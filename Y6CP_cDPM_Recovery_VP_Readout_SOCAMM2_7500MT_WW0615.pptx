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12191695" cy="2286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Y6CP FID DPM Recovery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C8C8C8"/>
                </a:solidFill>
              </a:defRPr>
            </a:pPr>
            <a:r>
              <a:t>SOCAMM2 | 7500MT/s | WW06-15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6464"/>
                </a:solidFill>
              </a:defRPr>
            </a:pPr>
            <a:r>
              <a:t>SOCAMM2 7500MT | WW202606-15 (10 Weeks) HMB1 &amp; QMON Steps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2560320"/>
          </a:xfrm>
          <a:prstGeom prst="roundRect">
            <a:avLst/>
          </a:prstGeom>
          <a:solidFill>
            <a:srgbClr val="E8F5E9"/>
          </a:solidFill>
          <a:ln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1206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323232"/>
                </a:solidFill>
              </a:defRPr>
            </a:pPr>
            <a:r>
              <a:t>HMB1 Step:</a:t>
            </a:r>
          </a:p>
          <a:p>
            <a:pPr>
              <a:spcAft>
                <a:spcPts val="400"/>
              </a:spcAft>
              <a:defRPr sz="1300">
                <a:solidFill>
                  <a:srgbClr val="323232"/>
                </a:solidFill>
              </a:defRPr>
            </a:pPr>
            <a:r>
              <a:t>• Yield: 98.32% (29,788 modules tested)</a:t>
            </a:r>
          </a:p>
          <a:p>
            <a:pPr>
              <a:spcAft>
                <a:spcPts val="400"/>
              </a:spcAft>
              <a:defRPr sz="1300">
                <a:solidFill>
                  <a:srgbClr val="323232"/>
                </a:solidFill>
              </a:defRPr>
            </a:pPr>
            <a:r>
              <a:t>• Total FID DPM: 287.3 → Remaining: 72.6 DPM</a:t>
            </a:r>
          </a:p>
          <a:p>
            <a:pPr>
              <a:spcAft>
                <a:spcPts val="400"/>
              </a:spcAft>
              <a:defRPr sz="1300">
                <a:solidFill>
                  <a:srgbClr val="323232"/>
                </a:solidFill>
              </a:defRPr>
            </a:pPr>
            <a:r>
              <a:t>• Recovery: 214.7 DPM (75% recoverable)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188720"/>
            <a:ext cx="5486400" cy="2560320"/>
          </a:xfrm>
          <a:prstGeom prst="roundRect">
            <a:avLst/>
          </a:prstGeom>
          <a:solidFill>
            <a:srgbClr val="E3F2FD"/>
          </a:solidFill>
          <a:ln>
            <a:solidFill>
              <a:srgbClr val="219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371600"/>
            <a:ext cx="51206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323232"/>
                </a:solidFill>
              </a:defRPr>
            </a:pPr>
            <a:r>
              <a:t>QMON Step:</a:t>
            </a:r>
          </a:p>
          <a:p>
            <a:pPr>
              <a:spcAft>
                <a:spcPts val="400"/>
              </a:spcAft>
              <a:defRPr sz="1300">
                <a:solidFill>
                  <a:srgbClr val="323232"/>
                </a:solidFill>
              </a:defRPr>
            </a:pPr>
            <a:r>
              <a:t>• Yield: 98.79% (24,126 modules tested)</a:t>
            </a:r>
          </a:p>
          <a:p>
            <a:pPr>
              <a:spcAft>
                <a:spcPts val="400"/>
              </a:spcAft>
              <a:defRPr sz="1300">
                <a:solidFill>
                  <a:srgbClr val="323232"/>
                </a:solidFill>
              </a:defRPr>
            </a:pPr>
            <a:r>
              <a:t>• Total FID DPM: 190.7 → Remaining: 64.0 DPM</a:t>
            </a:r>
          </a:p>
          <a:p>
            <a:pPr>
              <a:spcAft>
                <a:spcPts val="400"/>
              </a:spcAft>
              <a:defRPr sz="1300">
                <a:solidFill>
                  <a:srgbClr val="323232"/>
                </a:solidFill>
              </a:defRPr>
            </a:pPr>
            <a:r>
              <a:t>• Recovery: 126.7 DPM (66% recoverable)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931920"/>
            <a:ext cx="11277295" cy="2011680"/>
          </a:xfrm>
          <a:prstGeom prst="roundRect">
            <a:avLst/>
          </a:prstGeom>
          <a:solidFill>
            <a:srgbClr val="EDE7F6"/>
          </a:solidFill>
          <a:ln>
            <a:solidFill>
              <a:srgbClr val="673A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11480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323232"/>
                </a:solidFill>
              </a:defRPr>
            </a:pPr>
            <a:r>
              <a:t>Combined SLT (HMB1 × QMON):</a:t>
            </a:r>
          </a:p>
          <a:p>
            <a:pPr>
              <a:spcAft>
                <a:spcPts val="400"/>
              </a:spcAft>
              <a:defRPr sz="1400">
                <a:solidFill>
                  <a:srgbClr val="323232"/>
                </a:solidFill>
              </a:defRPr>
            </a:pPr>
            <a:r>
              <a:t>• Total FID DPM: 478.0 → Remaining: 136.6 DPM</a:t>
            </a:r>
          </a:p>
          <a:p>
            <a:pPr>
              <a:spcAft>
                <a:spcPts val="400"/>
              </a:spcAft>
              <a:defRPr sz="1400">
                <a:solidFill>
                  <a:srgbClr val="323232"/>
                </a:solidFill>
              </a:defRPr>
            </a:pPr>
            <a:r>
              <a:t>• Total Recovery: 341.4 DPM (71% recoverable)</a:t>
            </a:r>
          </a:p>
          <a:p>
            <a:pPr>
              <a:spcAft>
                <a:spcPts val="400"/>
              </a:spcAft>
              <a:defRPr sz="1400">
                <a:solidFill>
                  <a:srgbClr val="323232"/>
                </a:solidFill>
              </a:defRPr>
            </a:pPr>
            <a:r>
              <a:t>• Key Mechanisms: BIOS (67%) + HW+SOP (4%)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DPM to MFG View: Bridging the Communication Gap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9144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</a:tblGrid>
              <a:tr h="40005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HMB1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QMON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Combined SLT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300" b="1"/>
                      </a:pPr>
                      <a:r>
                        <a:t>Current Yield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98.32%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98.79%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97.13%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300" b="1"/>
                      </a:pPr>
                      <a:r>
                        <a:t>Modules Tested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29,788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24,126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300" b="1"/>
                      </a:pPr>
                      <a:r>
                        <a:t>Modules Failed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500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292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792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300" b="1"/>
                      </a:pPr>
                      <a:r>
                        <a:t>Total FID DPM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287.3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190.7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478.0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300" b="1"/>
                      </a:pPr>
                      <a:r>
                        <a:t>Recoverable DPM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214.7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126.7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341.4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300" b="1"/>
                      </a:pPr>
                      <a:r>
                        <a:t>Remaining DPM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72.6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64.0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136.6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B5E20"/>
                          </a:solidFill>
                        </a:defRPr>
                      </a:pPr>
                      <a:r>
                        <a:t>Projected Yield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B5E20"/>
                          </a:solidFill>
                        </a:defRPr>
                      </a:pPr>
                      <a:r>
                        <a:t>99.58%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B5E20"/>
                          </a:solidFill>
                        </a:defRPr>
                      </a:pPr>
                      <a:r>
                        <a:t>99.59%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B5E20"/>
                          </a:solidFill>
                        </a:defRPr>
                      </a:pPr>
                      <a:r>
                        <a:t>99.18%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57200" y="4114800"/>
            <a:ext cx="11277295" cy="1645920"/>
          </a:xfrm>
          <a:prstGeom prst="roundRect">
            <a:avLst/>
          </a:prstGeom>
          <a:solidFill>
            <a:srgbClr val="FFF3E0"/>
          </a:solidFill>
          <a:ln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4805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323232"/>
                </a:solidFill>
              </a:defRPr>
            </a:pPr>
            <a:r>
              <a:t>Key Message:</a:t>
            </a:r>
          </a:p>
          <a:p>
            <a:pPr>
              <a:spcAft>
                <a:spcPts val="400"/>
              </a:spcAft>
              <a:defRPr sz="1300">
                <a:solidFill>
                  <a:srgbClr val="323232"/>
                </a:solidFill>
              </a:defRPr>
            </a:pPr>
            <a:r>
              <a:t>Current: 97.13% yield (478.0 FID DPM) → Projected: 99.18% yield (136.6 FID DPM)</a:t>
            </a:r>
          </a:p>
          <a:p>
            <a:pPr>
              <a:spcAft>
                <a:spcPts val="400"/>
              </a:spcAft>
              <a:defRPr sz="1300">
                <a:solidFill>
                  <a:srgbClr val="323232"/>
                </a:solidFill>
              </a:defRPr>
            </a:pPr>
            <a:r>
              <a:t>Through BIOS/HW+SOP recovery, we improve SLT yield by +2.05% (341.4 DPM recovered)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DPM Calculation Method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77295" cy="1828800"/>
          </a:xfrm>
          <a:prstGeom prst="roundRect">
            <a:avLst/>
          </a:prstGeom>
          <a:solidFill>
            <a:srgbClr val="E8F5E9"/>
          </a:solidFill>
          <a:ln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323232"/>
                </a:solidFill>
              </a:defRPr>
            </a:pPr>
            <a:r>
              <a:t>Formula:</a:t>
            </a:r>
          </a:p>
          <a:p>
            <a:pPr>
              <a:spcAft>
                <a:spcPts val="400"/>
              </a:spcAft>
              <a:defRPr sz="1400">
                <a:solidFill>
                  <a:srgbClr val="323232"/>
                </a:solidFill>
              </a:defRPr>
            </a:pPr>
            <a:r>
              <a:t>                    Unique Failing MSNs</a:t>
            </a:r>
          </a:p>
          <a:p>
            <a:pPr>
              <a:spcAft>
                <a:spcPts val="400"/>
              </a:spcAft>
              <a:defRPr sz="1400">
                <a:solidFill>
                  <a:srgbClr val="323232"/>
                </a:solidFill>
              </a:defRPr>
            </a:pPr>
            <a:r>
              <a:t>        FID DPM = ─────────────────────────── × 1,000,000</a:t>
            </a:r>
          </a:p>
          <a:p>
            <a:pPr>
              <a:spcAft>
                <a:spcPts val="400"/>
              </a:spcAft>
              <a:defRPr sz="1400">
                <a:solidFill>
                  <a:srgbClr val="323232"/>
                </a:solidFill>
              </a:defRPr>
            </a:pPr>
            <a:r>
              <a:t>                      Total FID UIN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0"/>
            <a:ext cx="112772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23232"/>
                </a:solidFill>
              </a:defRPr>
            </a:pPr>
            <a:r>
              <a:t>Calculation:</a:t>
            </a:r>
          </a:p>
          <a:p>
            <a:pPr>
              <a:defRPr sz="1200" b="0">
                <a:solidFill>
                  <a:srgbClr val="323232"/>
                </a:solidFill>
              </a:defRPr>
            </a:pPr>
            <a:r>
              <a:t>HMB1:    FID DPM = 500 unique failing modules / 29,788 FID UIN × 1M = 287.3</a:t>
            </a:r>
          </a:p>
          <a:p>
            <a:pPr>
              <a:defRPr sz="1200" b="0">
                <a:solidFill>
                  <a:srgbClr val="323232"/>
                </a:solidFill>
              </a:defRPr>
            </a:pPr>
            <a:r>
              <a:t>QMON:    FID DPM = 292 unique failing modules / 24,126 FID UIN × 1M = 190.7</a:t>
            </a:r>
          </a:p>
          <a:p>
            <a:pPr>
              <a:defRPr sz="1200" b="0">
                <a:solidFill>
                  <a:srgbClr val="323232"/>
                </a:solidFill>
              </a:defRPr>
            </a:pPr>
          </a:p>
          <a:p>
            <a:pPr>
              <a:defRPr sz="1200" b="1">
                <a:solidFill>
                  <a:srgbClr val="323232"/>
                </a:solidFill>
              </a:defRPr>
            </a:pPr>
            <a:r>
              <a:t>Why count unique MSNs?</a:t>
            </a:r>
          </a:p>
          <a:p>
            <a:pPr>
              <a:defRPr sz="1200" b="0">
                <a:solidFill>
                  <a:srgbClr val="323232"/>
                </a:solidFill>
              </a:defRPr>
            </a:pPr>
            <a:r>
              <a:t>• For Mod-Sys, Hang, and Multi-Mod fails, the failure occurs at the MSN level</a:t>
            </a:r>
          </a:p>
          <a:p>
            <a:pPr>
              <a:defRPr sz="1200" b="0">
                <a:solidFill>
                  <a:srgbClr val="323232"/>
                </a:solidFill>
              </a:defRPr>
            </a:pPr>
            <a:r>
              <a:t>• FIDs and packages within the same MSN fail together from a single event</a:t>
            </a:r>
          </a:p>
          <a:p>
            <a:pPr>
              <a:defRPr sz="1200" b="0">
                <a:solidFill>
                  <a:srgbClr val="323232"/>
                </a:solidFill>
              </a:defRPr>
            </a:pPr>
            <a:r>
              <a:t>• Counting each failed FID would overcount the actual failure rate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Top FAILCRAWLER Categories by DPM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6464"/>
                </a:solidFill>
              </a:defRPr>
            </a:pPr>
            <a:r>
              <a:t>Sorted highest → lowest | Color-coded by risk: 🔴 Critical (&gt;30%) | 🟠 High (15-30%) | 🟡 Medium (5-15%) | 🟢 Low (&lt;5%)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4CAF50"/>
                </a:solidFill>
              </a:defRPr>
            </a:pPr>
            <a:r>
              <a:t>HMB1 (Total: 287.3 DPM)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32F2F"/>
                </a:solidFill>
              </a:defRPr>
            </a:pPr>
            <a:r>
              <a:t>• MULTI_BANK_MULTI_DQ: 115.2 DPM (40%)</a:t>
            </a:r>
          </a:p>
          <a:p>
            <a:pPr>
              <a:defRPr sz="1200" b="1">
                <a:solidFill>
                  <a:srgbClr val="F57C00"/>
                </a:solidFill>
              </a:defRPr>
            </a:pPr>
            <a:r>
              <a:t>• SINGLE_BURST_SINGLE_ROW: 48.7 DPM (17%)</a:t>
            </a:r>
          </a:p>
          <a:p>
            <a:pPr>
              <a:defRPr sz="1200" b="0">
                <a:solidFill>
                  <a:srgbClr val="FBC02D"/>
                </a:solidFill>
              </a:defRPr>
            </a:pPr>
            <a:r>
              <a:t>• HGDC: 38.4 DPM (13%)</a:t>
            </a:r>
          </a:p>
          <a:p>
            <a:pPr>
              <a:defRPr sz="1200" b="0">
                <a:solidFill>
                  <a:srgbClr val="FBC02D"/>
                </a:solidFill>
              </a:defRPr>
            </a:pPr>
            <a:r>
              <a:t>• Other: 26.0 DPM (9%)</a:t>
            </a:r>
          </a:p>
          <a:p>
            <a:pPr>
              <a:defRPr sz="1200" b="0">
                <a:solidFill>
                  <a:srgbClr val="FBC02D"/>
                </a:solidFill>
              </a:defRPr>
            </a:pPr>
            <a:r>
              <a:t>• SYS_EVEN_BURST_BIT: 18.9 DPM (7%)</a:t>
            </a:r>
          </a:p>
          <a:p>
            <a:pPr>
              <a:defRPr sz="1200" b="0">
                <a:solidFill>
                  <a:srgbClr val="FBC02D"/>
                </a:solidFill>
              </a:defRPr>
            </a:pPr>
            <a:r>
              <a:t>• DB: 15.3 DPM (5%)</a:t>
            </a:r>
          </a:p>
          <a:p>
            <a:pPr>
              <a:defRPr sz="1200" b="0">
                <a:solidFill>
                  <a:srgbClr val="4CAF50"/>
                </a:solidFill>
              </a:defRPr>
            </a:pPr>
            <a:r>
              <a:t>• HANG: 11.2 DPM (4%)</a:t>
            </a:r>
          </a:p>
          <a:p>
            <a:pPr>
              <a:defRPr sz="1200" b="0">
                <a:solidFill>
                  <a:srgbClr val="4CAF50"/>
                </a:solidFill>
              </a:defRPr>
            </a:pPr>
            <a:r>
              <a:t>• SB: 8.2 DPM (3%)</a:t>
            </a:r>
          </a:p>
          <a:p>
            <a:pPr>
              <a:defRPr sz="1200" b="0">
                <a:solidFill>
                  <a:srgbClr val="4CAF50"/>
                </a:solidFill>
              </a:defRPr>
            </a:pPr>
            <a:r>
              <a:t>• ROW: 5.4 DPM (2%)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1887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196F3"/>
                </a:solidFill>
              </a:defRPr>
            </a:pPr>
            <a:r>
              <a:t>QMON (Total: 190.7 DPM)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32F2F"/>
                </a:solidFill>
              </a:defRPr>
            </a:pPr>
            <a:r>
              <a:t>• MULTI_BANK_MULTI_DQ: 88.4 DPM (46%)</a:t>
            </a:r>
          </a:p>
          <a:p>
            <a:pPr>
              <a:defRPr sz="1200" b="1">
                <a:solidFill>
                  <a:srgbClr val="F57C00"/>
                </a:solidFill>
              </a:defRPr>
            </a:pPr>
            <a:r>
              <a:t>• SINGLE_BURST_SINGLE_ROW: 30.3 DPM (16%)</a:t>
            </a:r>
          </a:p>
          <a:p>
            <a:pPr>
              <a:defRPr sz="1200" b="0">
                <a:solidFill>
                  <a:srgbClr val="FBC02D"/>
                </a:solidFill>
              </a:defRPr>
            </a:pPr>
            <a:r>
              <a:t>• Other: 22.9 DPM (12%)</a:t>
            </a:r>
          </a:p>
          <a:p>
            <a:pPr>
              <a:defRPr sz="1200" b="0">
                <a:solidFill>
                  <a:srgbClr val="FBC02D"/>
                </a:solidFill>
              </a:defRPr>
            </a:pPr>
            <a:r>
              <a:t>• SYS_EVEN_BURST_BIT: 12.1 DPM (6%)</a:t>
            </a:r>
          </a:p>
          <a:p>
            <a:pPr>
              <a:defRPr sz="1200" b="0">
                <a:solidFill>
                  <a:srgbClr val="4CAF50"/>
                </a:solidFill>
              </a:defRPr>
            </a:pPr>
            <a:r>
              <a:t>• HGDC: 9.2 DPM (5%)</a:t>
            </a:r>
          </a:p>
          <a:p>
            <a:pPr>
              <a:defRPr sz="1200" b="0">
                <a:solidFill>
                  <a:srgbClr val="4CAF50"/>
                </a:solidFill>
              </a:defRPr>
            </a:pPr>
            <a:r>
              <a:t>• ROW: 8.7 DPM (5%)</a:t>
            </a:r>
          </a:p>
          <a:p>
            <a:pPr>
              <a:defRPr sz="1200" b="0">
                <a:solidFill>
                  <a:srgbClr val="4CAF50"/>
                </a:solidFill>
              </a:defRPr>
            </a:pPr>
            <a:r>
              <a:t>• HANG: 8.1 DPM (4%)</a:t>
            </a:r>
          </a:p>
          <a:p>
            <a:pPr>
              <a:defRPr sz="1200" b="0">
                <a:solidFill>
                  <a:srgbClr val="4CAF50"/>
                </a:solidFill>
              </a:defRPr>
            </a:pPr>
            <a:r>
              <a:t>• DB: 6.8 DPM (4%)</a:t>
            </a:r>
          </a:p>
          <a:p>
            <a:pPr>
              <a:defRPr sz="1200" b="0">
                <a:solidFill>
                  <a:srgbClr val="4CAF50"/>
                </a:solidFill>
              </a:defRPr>
            </a:pPr>
            <a:r>
              <a:t>• SB: 4.2 DPM (2%)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303520"/>
            <a:ext cx="11277295" cy="1371600"/>
          </a:xfrm>
          <a:prstGeom prst="roundRect">
            <a:avLst/>
          </a:prstGeom>
          <a:solidFill>
            <a:srgbClr val="F8F9FA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3949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23232"/>
                </a:solidFill>
              </a:defRPr>
            </a:pPr>
            <a:r>
              <a:t>Risk Legend: CRITICAL = Top pareto (&gt;30%) | HIGH = Secondary (15-30%) | MEDIUM = Moderate (5-15%) | LOW = Minor (&lt;5%)</a:t>
            </a:r>
          </a:p>
          <a:p>
            <a:pPr>
              <a:spcAft>
                <a:spcPts val="400"/>
              </a:spcAft>
              <a:defRPr sz="1000">
                <a:solidFill>
                  <a:srgbClr val="323232"/>
                </a:solidFill>
              </a:defRPr>
            </a:pPr>
          </a:p>
          <a:p>
            <a:pPr>
              <a:spcAft>
                <a:spcPts val="400"/>
              </a:spcAft>
              <a:defRPr sz="1000">
                <a:solidFill>
                  <a:srgbClr val="323232"/>
                </a:solidFill>
              </a:defRPr>
            </a:pPr>
            <a:r>
              <a:t>"Other" includes: SECTION_FAIL_PERIPH, MULTI_HALFBANK_SINGLE_DQ, BOOT, BURST_FAIL, COLUMN_FAIL, BANK_FAIL_EVEN_DQ, BANK_FAIL_ODD_DQ, and additional minor patterns (&lt;2% each)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Recovery Type Assignments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5486400" cy="1828800"/>
          </a:xfrm>
          <a:prstGeom prst="roundRect">
            <a:avLst/>
          </a:prstGeom>
          <a:solidFill>
            <a:srgbClr val="E3F2FD"/>
          </a:solidFill>
          <a:ln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323232"/>
                </a:solidFill>
              </a:defRPr>
            </a:pPr>
            <a:r>
              <a:t>BIOS 100% Recovery (Full recovery projected):</a:t>
            </a:r>
          </a:p>
          <a:p>
            <a:pPr>
              <a:spcAft>
                <a:spcPts val="400"/>
              </a:spcAft>
              <a:defRPr sz="1200">
                <a:solidFill>
                  <a:srgbClr val="323232"/>
                </a:solidFill>
              </a:defRPr>
            </a:pPr>
            <a:r>
              <a:t>• MULTI_BANK_MULTI_DQ</a:t>
            </a:r>
          </a:p>
          <a:p>
            <a:pPr>
              <a:spcAft>
                <a:spcPts val="400"/>
              </a:spcAft>
              <a:defRPr sz="1200">
                <a:solidFill>
                  <a:srgbClr val="323232"/>
                </a:solidFill>
              </a:defRPr>
            </a:pPr>
            <a:r>
              <a:t>• Patterns with consistent multi-bank behavior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097280"/>
            <a:ext cx="5486400" cy="1828800"/>
          </a:xfrm>
          <a:prstGeom prst="roundRect">
            <a:avLst/>
          </a:prstGeom>
          <a:solidFill>
            <a:srgbClr val="E8F5E9"/>
          </a:solidFill>
          <a:ln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323232"/>
                </a:solidFill>
              </a:defRPr>
            </a:pPr>
            <a:r>
              <a:t>BIOS 50% Recovery (Partial recovery projected):</a:t>
            </a:r>
          </a:p>
          <a:p>
            <a:pPr>
              <a:spcAft>
                <a:spcPts val="400"/>
              </a:spcAft>
              <a:defRPr sz="1200">
                <a:solidFill>
                  <a:srgbClr val="323232"/>
                </a:solidFill>
              </a:defRPr>
            </a:pPr>
            <a:r>
              <a:t>• Bank/Burst/Periph patterns</a:t>
            </a:r>
          </a:p>
          <a:p>
            <a:pPr>
              <a:spcAft>
                <a:spcPts val="400"/>
              </a:spcAft>
              <a:defRPr sz="1200">
                <a:solidFill>
                  <a:srgbClr val="323232"/>
                </a:solidFill>
              </a:defRPr>
            </a:pPr>
            <a:r>
              <a:t>• SYS_EVEN_BURST_BIT, HGDC, etc.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108960"/>
            <a:ext cx="5486400" cy="1828800"/>
          </a:xfrm>
          <a:prstGeom prst="roundRect">
            <a:avLst/>
          </a:prstGeom>
          <a:solidFill>
            <a:srgbClr val="FCE4EC"/>
          </a:solidFill>
          <a:ln>
            <a:solidFill>
              <a:srgbClr val="C218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323232"/>
                </a:solidFill>
              </a:defRPr>
            </a:pPr>
            <a:r>
              <a:t>HW+SOP Recovery (100% projected):</a:t>
            </a:r>
          </a:p>
          <a:p>
            <a:pPr>
              <a:spcAft>
                <a:spcPts val="400"/>
              </a:spcAft>
              <a:defRPr sz="1200">
                <a:solidFill>
                  <a:srgbClr val="323232"/>
                </a:solidFill>
              </a:defRPr>
            </a:pPr>
            <a:r>
              <a:t>• HANG (MSN_STATUS based)</a:t>
            </a:r>
          </a:p>
          <a:p>
            <a:pPr>
              <a:spcAft>
                <a:spcPts val="400"/>
              </a:spcAft>
              <a:defRPr sz="1200">
                <a:solidFill>
                  <a:srgbClr val="323232"/>
                </a:solidFill>
              </a:defRPr>
            </a:pPr>
            <a:r>
              <a:t>• Socket/debris contamination fixes</a:t>
            </a:r>
          </a:p>
          <a:p>
            <a:pPr>
              <a:spcAft>
                <a:spcPts val="400"/>
              </a:spcAft>
              <a:defRPr sz="1200">
                <a:solidFill>
                  <a:srgbClr val="323232"/>
                </a:solidFill>
              </a:defRPr>
            </a:pPr>
            <a:r>
              <a:t>• SOP compliance enforcement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108960"/>
            <a:ext cx="5486400" cy="1828800"/>
          </a:xfrm>
          <a:prstGeom prst="roundRect">
            <a:avLst/>
          </a:prstGeom>
          <a:solidFill>
            <a:srgbClr val="FFEBEE"/>
          </a:solidFill>
          <a:ln>
            <a:solidFill>
              <a:srgbClr val="D32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329184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323232"/>
                </a:solidFill>
              </a:defRPr>
            </a:pPr>
            <a:r>
              <a:t>No Recovery (DRAM-related):</a:t>
            </a:r>
          </a:p>
          <a:p>
            <a:pPr>
              <a:spcAft>
                <a:spcPts val="400"/>
              </a:spcAft>
              <a:defRPr sz="1200">
                <a:solidFill>
                  <a:srgbClr val="323232"/>
                </a:solidFill>
              </a:defRPr>
            </a:pPr>
            <a:r>
              <a:t>• SB (Single Bit)</a:t>
            </a:r>
          </a:p>
          <a:p>
            <a:pPr>
              <a:spcAft>
                <a:spcPts val="400"/>
              </a:spcAft>
              <a:defRPr sz="1200">
                <a:solidFill>
                  <a:srgbClr val="323232"/>
                </a:solidFill>
              </a:defRPr>
            </a:pPr>
            <a:r>
              <a:t>• DB (Double Bit)</a:t>
            </a:r>
          </a:p>
          <a:p>
            <a:pPr>
              <a:spcAft>
                <a:spcPts val="400"/>
              </a:spcAft>
              <a:defRPr sz="1200">
                <a:solidFill>
                  <a:srgbClr val="323232"/>
                </a:solidFill>
              </a:defRPr>
            </a:pPr>
            <a:r>
              <a:t>• ROW failures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SLT Recovery Overview - All Steps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10362895" cy="423936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646464"/>
                </a:solidFill>
              </a:defRPr>
            </a:pPr>
            <a:r>
              <a:t>Combined SLT: 478.0 DPM total | BIOS: -322.1 (67%) | HW+SOP: -19.3 (4%) | Remaining: 136.6 DPM (29%)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HMB1 cDPM Recovery Waterfall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6858000" cy="360045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772400" y="1097280"/>
            <a:ext cx="4114800" cy="4754880"/>
          </a:xfrm>
          <a:prstGeom prst="roundRect">
            <a:avLst/>
          </a:prstGeom>
          <a:solidFill>
            <a:srgbClr val="F5F5F5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79" y="1280160"/>
            <a:ext cx="374903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03366"/>
                </a:solidFill>
              </a:defRPr>
            </a:pPr>
            <a:r>
              <a:t>HMB1 Recovery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79" y="1828800"/>
            <a:ext cx="3749039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D32F2F"/>
                </a:solidFill>
              </a:defRPr>
            </a:pPr>
            <a:r>
              <a:t>Total DPM: 287.3</a:t>
            </a:r>
          </a:p>
          <a:p>
            <a:pPr>
              <a:spcAft>
                <a:spcPts val="600"/>
              </a:spcAft>
              <a:defRPr sz="1300" b="0"/>
            </a:pPr>
          </a:p>
          <a:p>
            <a:pPr>
              <a:spcAft>
                <a:spcPts val="600"/>
              </a:spcAft>
              <a:defRPr sz="1300" b="0">
                <a:solidFill>
                  <a:srgbClr val="1976D2"/>
                </a:solidFill>
              </a:defRPr>
            </a:pPr>
            <a:r>
              <a:t>BIOS Recovery: 203.5 (71%)</a:t>
            </a:r>
          </a:p>
          <a:p>
            <a:pPr>
              <a:spcAft>
                <a:spcPts val="600"/>
              </a:spcAft>
              <a:defRPr sz="1300" b="0">
                <a:solidFill>
                  <a:srgbClr val="C2185B"/>
                </a:solidFill>
              </a:defRPr>
            </a:pPr>
            <a:r>
              <a:t>HW+SOP Recovery: 11.2 (4%)</a:t>
            </a:r>
          </a:p>
          <a:p>
            <a:pPr>
              <a:spcAft>
                <a:spcPts val="600"/>
              </a:spcAft>
              <a:defRPr sz="1300" b="0"/>
            </a:pPr>
          </a:p>
          <a:p>
            <a:pPr>
              <a:spcAft>
                <a:spcPts val="600"/>
              </a:spcAft>
              <a:defRPr sz="1300" b="1">
                <a:solidFill>
                  <a:srgbClr val="6A1B9A"/>
                </a:solidFill>
              </a:defRPr>
            </a:pPr>
            <a:r>
              <a:t>Total Recoverable: 214.7 (75%)</a:t>
            </a:r>
          </a:p>
          <a:p>
            <a:pPr>
              <a:spcAft>
                <a:spcPts val="600"/>
              </a:spcAft>
              <a:defRPr sz="1300" b="0"/>
            </a:pPr>
          </a:p>
          <a:p>
            <a:pPr>
              <a:spcAft>
                <a:spcPts val="600"/>
              </a:spcAft>
              <a:defRPr sz="1300" b="1">
                <a:solidFill>
                  <a:srgbClr val="43A047"/>
                </a:solidFill>
              </a:defRPr>
            </a:pPr>
            <a:r>
              <a:t>Remaining: 72.6 (25%)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QMON cDPM Recovery Waterfall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6858000" cy="360045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772400" y="1097280"/>
            <a:ext cx="4114800" cy="4754880"/>
          </a:xfrm>
          <a:prstGeom prst="roundRect">
            <a:avLst/>
          </a:prstGeom>
          <a:solidFill>
            <a:srgbClr val="F5F5F5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79" y="1280160"/>
            <a:ext cx="374903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03366"/>
                </a:solidFill>
              </a:defRPr>
            </a:pPr>
            <a:r>
              <a:t>QMON Recovery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79" y="1828800"/>
            <a:ext cx="3749039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D32F2F"/>
                </a:solidFill>
              </a:defRPr>
            </a:pPr>
            <a:r>
              <a:t>Total DPM: 190.7</a:t>
            </a:r>
          </a:p>
          <a:p>
            <a:pPr>
              <a:spcAft>
                <a:spcPts val="600"/>
              </a:spcAft>
              <a:defRPr sz="1300" b="0"/>
            </a:pPr>
          </a:p>
          <a:p>
            <a:pPr>
              <a:spcAft>
                <a:spcPts val="600"/>
              </a:spcAft>
              <a:defRPr sz="1300" b="0">
                <a:solidFill>
                  <a:srgbClr val="1976D2"/>
                </a:solidFill>
              </a:defRPr>
            </a:pPr>
            <a:r>
              <a:t>BIOS Recovery: 118.6 (62%)</a:t>
            </a:r>
          </a:p>
          <a:p>
            <a:pPr>
              <a:spcAft>
                <a:spcPts val="600"/>
              </a:spcAft>
              <a:defRPr sz="1300" b="0">
                <a:solidFill>
                  <a:srgbClr val="C2185B"/>
                </a:solidFill>
              </a:defRPr>
            </a:pPr>
            <a:r>
              <a:t>HW+SOP Recovery: 8.1 (4%)</a:t>
            </a:r>
          </a:p>
          <a:p>
            <a:pPr>
              <a:spcAft>
                <a:spcPts val="600"/>
              </a:spcAft>
              <a:defRPr sz="1300" b="0"/>
            </a:pPr>
          </a:p>
          <a:p>
            <a:pPr>
              <a:spcAft>
                <a:spcPts val="600"/>
              </a:spcAft>
              <a:defRPr sz="1300" b="1">
                <a:solidFill>
                  <a:srgbClr val="6A1B9A"/>
                </a:solidFill>
              </a:defRPr>
            </a:pPr>
            <a:r>
              <a:t>Total Recoverable: 126.7 (66%)</a:t>
            </a:r>
          </a:p>
          <a:p>
            <a:pPr>
              <a:spcAft>
                <a:spcPts val="600"/>
              </a:spcAft>
              <a:defRPr sz="1300" b="0"/>
            </a:pPr>
          </a:p>
          <a:p>
            <a:pPr>
              <a:spcAft>
                <a:spcPts val="600"/>
              </a:spcAft>
              <a:defRPr sz="1300" b="1">
                <a:solidFill>
                  <a:srgbClr val="43A047"/>
                </a:solidFill>
              </a:defRPr>
            </a:pPr>
            <a:r>
              <a:t>Remaining: 64.0 (34%)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Combined SLT cDPM Recovery Waterfall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6858000" cy="360045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772400" y="1097280"/>
            <a:ext cx="4114800" cy="4754880"/>
          </a:xfrm>
          <a:prstGeom prst="roundRect">
            <a:avLst/>
          </a:prstGeom>
          <a:solidFill>
            <a:srgbClr val="F5F5F5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79" y="1280160"/>
            <a:ext cx="374903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03366"/>
                </a:solidFill>
              </a:defRPr>
            </a:pPr>
            <a:r>
              <a:t>Combined SLT Recovery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79" y="1828800"/>
            <a:ext cx="3749039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D32F2F"/>
                </a:solidFill>
              </a:defRPr>
            </a:pPr>
            <a:r>
              <a:t>Total DPM: 478.0</a:t>
            </a:r>
          </a:p>
          <a:p>
            <a:pPr>
              <a:spcAft>
                <a:spcPts val="600"/>
              </a:spcAft>
              <a:defRPr sz="1300" b="0"/>
            </a:pPr>
          </a:p>
          <a:p>
            <a:pPr>
              <a:spcAft>
                <a:spcPts val="600"/>
              </a:spcAft>
              <a:defRPr sz="1300" b="0">
                <a:solidFill>
                  <a:srgbClr val="1976D2"/>
                </a:solidFill>
              </a:defRPr>
            </a:pPr>
            <a:r>
              <a:t>BIOS Recovery: 322.1 (67%)</a:t>
            </a:r>
          </a:p>
          <a:p>
            <a:pPr>
              <a:spcAft>
                <a:spcPts val="600"/>
              </a:spcAft>
              <a:defRPr sz="1300" b="0">
                <a:solidFill>
                  <a:srgbClr val="C2185B"/>
                </a:solidFill>
              </a:defRPr>
            </a:pPr>
            <a:r>
              <a:t>HW+SOP Recovery: 19.3 (4%)</a:t>
            </a:r>
          </a:p>
          <a:p>
            <a:pPr>
              <a:spcAft>
                <a:spcPts val="600"/>
              </a:spcAft>
              <a:defRPr sz="1300" b="0"/>
            </a:pPr>
          </a:p>
          <a:p>
            <a:pPr>
              <a:spcAft>
                <a:spcPts val="600"/>
              </a:spcAft>
              <a:defRPr sz="1300" b="1">
                <a:solidFill>
                  <a:srgbClr val="6A1B9A"/>
                </a:solidFill>
              </a:defRPr>
            </a:pPr>
            <a:r>
              <a:t>Total Recoverable: 341.4 (71%)</a:t>
            </a:r>
          </a:p>
          <a:p>
            <a:pPr>
              <a:spcAft>
                <a:spcPts val="600"/>
              </a:spcAft>
              <a:defRPr sz="1300" b="0"/>
            </a:pPr>
          </a:p>
          <a:p>
            <a:pPr>
              <a:spcAft>
                <a:spcPts val="600"/>
              </a:spcAft>
              <a:defRPr sz="1300" b="1">
                <a:solidFill>
                  <a:srgbClr val="43A047"/>
                </a:solidFill>
              </a:defRPr>
            </a:pPr>
            <a:r>
              <a:t>Remaining: 136.6 (29%)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Step-Level DPM Breakdown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1127729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Step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Total DPM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BIOS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HW+SOP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Recoverable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Remaining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HMB1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287.3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203.5 (71%)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11.2 (4%)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214.7 (75%)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72.6 (25%)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QMON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190.7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118.6 (62%)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8.1 (4%)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126.7 (66%)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64.0 (34%)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Combined SLT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478.0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322.1 (67%)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19.3 (4%)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341.4 (71%)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/>
                      </a:pPr>
                      <a:r>
                        <a:t>136.6 (29%)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65760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505050"/>
                </a:solidFill>
              </a:defRPr>
            </a:pPr>
            <a:r>
              <a:t>Recovery Mechanisms:</a:t>
            </a:r>
          </a:p>
          <a:p>
            <a:pPr>
              <a:defRPr sz="1200" b="0">
                <a:solidFill>
                  <a:srgbClr val="505050"/>
                </a:solidFill>
              </a:defRPr>
            </a:pPr>
            <a:r>
              <a:t>BIOS: MULTI_BANK_MULTI_DQ (100%) + Bank/Burst/Periph patterns (50%)</a:t>
            </a:r>
          </a:p>
          <a:p>
            <a:pPr>
              <a:defRPr sz="1200" b="0">
                <a:solidFill>
                  <a:srgbClr val="505050"/>
                </a:solidFill>
              </a:defRPr>
            </a:pPr>
            <a:r>
              <a:t>HW+SOP: Socket/debris contamination fixes + SOP compliance</a:t>
            </a:r>
          </a:p>
          <a:p>
            <a:pPr>
              <a:defRPr sz="1200" b="0">
                <a:solidFill>
                  <a:srgbClr val="505050"/>
                </a:solidFill>
              </a:defRPr>
            </a:pPr>
          </a:p>
          <a:p>
            <a:pPr>
              <a:defRPr sz="1200" b="0">
                <a:solidFill>
                  <a:srgbClr val="505050"/>
                </a:solidFill>
              </a:defRPr>
            </a:pPr>
            <a:r>
              <a:t>Note: 1st pass yield impacted by HW issues. Recovery projections assume fixes deployed.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Unrecovered Failures: Potential Yield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6464"/>
                </a:solidFill>
              </a:defRPr>
            </a:pPr>
            <a:r>
              <a:t>Combined SLT - Remaining DPM breakdown by category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188720"/>
          <a:ext cx="9144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200400"/>
                <a:gridCol w="1828800"/>
                <a:gridCol w="1554480"/>
              </a:tblGrid>
              <a:tr h="30480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FAILCRAWLER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Unrecovered DPM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Yield Gain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t>BIOS 50%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t>SINGLE_BURST_SINGLE_ROW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39.5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+0.237%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t>HGDC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23.8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+0.143%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t>SYS_EVEN_BURST_BIT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15.5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+0.093%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t>MULTI_HALFBANK_MULTI_DQ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6.2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+0.037%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defRPr sz="1200" b="1"/>
                      </a:pPr>
                      <a:r>
                        <a:t>Subtotal BIOS 50%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/>
                      </a:pP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/>
                      </a:pPr>
                      <a:r>
                        <a:t>85.0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/>
                      </a:pPr>
                      <a:r>
                        <a:t>+0.51%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t>DRAM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t>DB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22.1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+0.133%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t>SB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12.4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+0.074%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t>ROW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14.1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+0.085%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defRPr sz="1200" b="1"/>
                      </a:pPr>
                      <a:r>
                        <a:t>Subtotal DRAM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/>
                      </a:pP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/>
                      </a:pPr>
                      <a:r>
                        <a:t>48.6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/>
                      </a:pPr>
                      <a:r>
                        <a:t>+0.29%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t>Other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t>BOOT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+0.018%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E65100"/>
                          </a:solidFill>
                        </a:defRPr>
                      </a:pPr>
                      <a:r>
                        <a:t>TOTAL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E651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65100"/>
                          </a:solidFill>
                        </a:defRPr>
                      </a:pPr>
                      <a:r>
                        <a:t>136.6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65100"/>
                          </a:solidFill>
                        </a:defRPr>
                      </a:pPr>
                      <a:r>
                        <a:t>+0.82%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5029200"/>
            <a:ext cx="11277295" cy="1554480"/>
          </a:xfrm>
          <a:prstGeom prst="roundRect">
            <a:avLst/>
          </a:prstGeom>
          <a:solidFill>
            <a:srgbClr val="E8F5E9"/>
          </a:solidFill>
          <a:ln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21208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23232"/>
                </a:solidFill>
              </a:defRPr>
            </a:pPr>
            <a:r>
              <a:t>Key Insights: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BIOS 50% (85.0 DPM): Partial recovery patterns - potential +0.51% yield with improved BIOS fix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DRAM (48.6 DPM): SB/DB/ROW failures - requires component-level improvement</a:t>
            </a:r>
          </a:p>
          <a:p>
            <a:pPr>
              <a:spcAft>
                <a:spcPts val="400"/>
              </a:spcAft>
              <a:defRPr sz="1100">
                <a:solidFill>
                  <a:srgbClr val="323232"/>
                </a:solidFill>
              </a:defRPr>
            </a:pPr>
            <a:r>
              <a:t>• Total opportunity: +0.82% yield if all remaining failures addressed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MSN_STATUS × FAILCRAWLER Correlation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6464"/>
                </a:solidFill>
              </a:defRPr>
            </a:pPr>
            <a:r>
              <a:t>Understanding the linkage between module status and fail patterns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7315200"/>
                <a:gridCol w="2286000"/>
              </a:tblGrid>
              <a:tr h="3556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MSN_STATUS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Top FAILCRAWLERs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Recovery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Hang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HANG (100%)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HW+SOP (100%)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Boot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BOOT (100%)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No Fix (0%)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SB_Int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SB (100%)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DRAM (0%)</a:t>
                      </a:r>
                    </a:p>
                  </a:txBody>
                  <a:tcPr anchor="ctr">
                    <a:solidFill>
                      <a:srgbClr val="FFEBEE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Mod-Sys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MULTI_BANK_MULTI_DQ (64%), SINGLE_BURST_SINGLE_ROW (11%), HGDC (10%)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BIOS (varies)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Multi-DQ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MULTI_BANK_MULTI_DQ (61%), SECTION_FAIL_PERIPH (19%)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BIOS 100%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DQ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SYS_EVEN_BURST_BIT (43%), MULTI_HALFBANK_SINGLE_DQ (36%), DB (3%)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BIOS 50% / DRAM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Row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SINGLE_BURST_SINGLE_ROW (74%), DB (17%), ROW (3%)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BIOS 50% / DRAM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Multi-Mod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SINGLE_BURST_SINGLE_ROW (42%), MULTI_BANK_MULTI_DQ (33%)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Mixed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4572000"/>
            <a:ext cx="11277295" cy="2011680"/>
          </a:xfrm>
          <a:prstGeom prst="roundRect">
            <a:avLst/>
          </a:prstGeom>
          <a:solidFill>
            <a:srgbClr val="F8F9FA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323232"/>
                </a:solidFill>
              </a:defRPr>
            </a:pPr>
            <a:r>
              <a:t>How to Read This Table:</a:t>
            </a:r>
          </a:p>
          <a:p>
            <a:pPr>
              <a:spcAft>
                <a:spcPts val="400"/>
              </a:spcAft>
              <a:defRPr sz="1000">
                <a:solidFill>
                  <a:srgbClr val="323232"/>
                </a:solidFill>
              </a:defRPr>
            </a:pPr>
            <a:r>
              <a:t>• MSN_STATUS = Module status category from test (what the tester reports)</a:t>
            </a:r>
          </a:p>
          <a:p>
            <a:pPr>
              <a:spcAft>
                <a:spcPts val="400"/>
              </a:spcAft>
              <a:defRPr sz="1000">
                <a:solidFill>
                  <a:srgbClr val="323232"/>
                </a:solidFill>
              </a:defRPr>
            </a:pPr>
            <a:r>
              <a:t>• FAILCRAWLER = Fail pattern classification (root cause analysis)</a:t>
            </a:r>
          </a:p>
          <a:p>
            <a:pPr>
              <a:spcAft>
                <a:spcPts val="400"/>
              </a:spcAft>
              <a:defRPr sz="1000">
                <a:solidFill>
                  <a:srgbClr val="323232"/>
                </a:solidFill>
              </a:defRPr>
            </a:pPr>
            <a:r>
              <a:t>• 100% correlation: Hang→HANG, Boot→BOOT, SB_Int→SB (easy to explain)</a:t>
            </a:r>
          </a:p>
          <a:p>
            <a:pPr>
              <a:spcAft>
                <a:spcPts val="400"/>
              </a:spcAft>
              <a:defRPr sz="1000">
                <a:solidFill>
                  <a:srgbClr val="323232"/>
                </a:solidFill>
              </a:defRPr>
            </a:pPr>
            <a:r>
              <a:t>• Mixed correlation: Mod-Sys and DQ contain multiple FAILCRAWLER types</a:t>
            </a:r>
          </a:p>
          <a:p>
            <a:pPr>
              <a:spcAft>
                <a:spcPts val="400"/>
              </a:spcAft>
              <a:defRPr sz="1000">
                <a:solidFill>
                  <a:srgbClr val="323232"/>
                </a:solidFill>
              </a:defRPr>
            </a:pPr>
            <a:r>
              <a:t>• Recovery depends on FAILCRAWLER, not MSN_STATUS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</a:defRPr>
            </a:pPr>
            <a:r>
              <a:t>Appendix: Data Sources &amp; Commands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23232"/>
                </a:solidFill>
              </a:defRPr>
            </a:pPr>
            <a:r>
              <a:t>Data Collection:</a:t>
            </a:r>
          </a:p>
          <a:p>
            <a:pPr>
              <a:defRPr sz="1100" b="0">
                <a:solidFill>
                  <a:srgbClr val="323232"/>
                </a:solidFill>
              </a:defRPr>
            </a:pPr>
          </a:p>
          <a:p>
            <a:pPr>
              <a:defRPr sz="1100" b="1">
                <a:solidFill>
                  <a:srgbClr val="323232"/>
                </a:solidFill>
              </a:defRPr>
            </a:pPr>
            <a:r>
              <a:t>1. Unique Failing MSNs (Numerator):</a:t>
            </a:r>
          </a:p>
          <a:p>
            <a:pPr>
              <a:defRPr sz="1100" b="0">
                <a:solidFill>
                  <a:srgbClr val="323232"/>
                </a:solidFill>
                <a:latin typeface="Consolas"/>
              </a:defRPr>
            </a:pPr>
            <a:r>
              <a:t>   mtsums -dbase=y6cp -step={step} -module_form_factor=socamm2 \</a:t>
            </a:r>
          </a:p>
          <a:p>
            <a:pPr>
              <a:defRPr sz="1100" b="0">
                <a:solidFill>
                  <a:srgbClr val="323232"/>
                </a:solidFill>
              </a:defRPr>
            </a:pPr>
            <a:r>
              <a:t>       -module_speed=7500MTPS -mfg_workweek=202606,...,202615 +stdf +msnag</a:t>
            </a:r>
          </a:p>
          <a:p>
            <a:pPr>
              <a:defRPr sz="1100" b="0">
                <a:solidFill>
                  <a:srgbClr val="323232"/>
                </a:solidFill>
              </a:defRPr>
            </a:pPr>
          </a:p>
          <a:p>
            <a:pPr>
              <a:defRPr sz="1100" b="1">
                <a:solidFill>
                  <a:srgbClr val="323232"/>
                </a:solidFill>
              </a:defRPr>
            </a:pPr>
            <a:r>
              <a:t>2. Total FID UIN (Denominator):</a:t>
            </a:r>
          </a:p>
          <a:p>
            <a:pPr>
              <a:defRPr sz="1100" b="0">
                <a:solidFill>
                  <a:srgbClr val="323232"/>
                </a:solidFill>
                <a:latin typeface="Consolas"/>
              </a:defRPr>
            </a:pPr>
            <a:r>
              <a:t>   mtsums -dbase=y6cp -step={step} -module_form_factor=socamm2 \</a:t>
            </a:r>
          </a:p>
          <a:p>
            <a:pPr>
              <a:defRPr sz="1100" b="0">
                <a:solidFill>
                  <a:srgbClr val="323232"/>
                </a:solidFill>
              </a:defRPr>
            </a:pPr>
            <a:r>
              <a:t>       -module_speed=7500MTPS -mfg_workweek=202606,...,202615 +fidag</a:t>
            </a:r>
          </a:p>
          <a:p>
            <a:pPr>
              <a:defRPr sz="1100" b="0">
                <a:solidFill>
                  <a:srgbClr val="323232"/>
                </a:solidFill>
              </a:defRPr>
            </a:pPr>
          </a:p>
          <a:p>
            <a:pPr>
              <a:defRPr sz="1100" b="1">
                <a:solidFill>
                  <a:srgbClr val="323232"/>
                </a:solidFill>
              </a:defRPr>
            </a:pPr>
            <a:r>
              <a:t>3. FAILCRAWLER × MSN_STATUS Correlation:</a:t>
            </a:r>
          </a:p>
          <a:p>
            <a:pPr>
              <a:defRPr sz="1100" b="0">
                <a:solidFill>
                  <a:srgbClr val="323232"/>
                </a:solidFill>
                <a:latin typeface="Consolas"/>
              </a:defRPr>
            </a:pPr>
            <a:r>
              <a:t>   mtsums ... +stdf +fc +msnag</a:t>
            </a:r>
          </a:p>
          <a:p>
            <a:pPr>
              <a:defRPr sz="1100" b="0">
                <a:solidFill>
                  <a:srgbClr val="323232"/>
                </a:solidFill>
              </a:defRPr>
            </a:pPr>
          </a:p>
          <a:p>
            <a:pPr>
              <a:defRPr sz="1100" b="1">
                <a:solidFill>
                  <a:srgbClr val="323232"/>
                </a:solidFill>
              </a:defRPr>
            </a:pPr>
            <a:r>
              <a:t>4. Recovery Projections:</a:t>
            </a:r>
          </a:p>
          <a:p>
            <a:pPr>
              <a:defRPr sz="1100" b="0">
                <a:solidFill>
                  <a:srgbClr val="323232"/>
                </a:solidFill>
                <a:latin typeface="Consolas"/>
              </a:defRPr>
            </a:pPr>
            <a:r>
              <a:t>   • RPx: socamm_false_miscompare.py script (verified rate)</a:t>
            </a:r>
          </a:p>
          <a:p>
            <a:pPr>
              <a:defRPr sz="1100" b="0">
                <a:solidFill>
                  <a:srgbClr val="323232"/>
                </a:solidFill>
              </a:defRPr>
            </a:pPr>
            <a:r>
              <a:t>   • BIOS/HW+SOP: Based on fail mode classification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