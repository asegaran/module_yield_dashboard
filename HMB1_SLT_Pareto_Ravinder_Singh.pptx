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SLT Top Pareto Analysis (HMB1 + QMON)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SOCAMM2 | Y6CP | 7500MTPS | WW202606-202615 (10 weeks)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1005840"/>
          </a:xfrm>
          <a:prstGeom prst="roundRect">
            <a:avLst/>
          </a:prstGeom>
          <a:solidFill>
            <a:srgbClr val="E6F2FF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0C0"/>
                </a:solidFill>
              </a:defRPr>
            </a:pPr>
            <a:r>
              <a:t>HMB1</a:t>
            </a:r>
          </a:p>
          <a:p>
            <a:pPr>
              <a:defRPr sz="1000"/>
            </a:pPr>
            <a:r>
              <a:t>FID UIN: 1,947,264</a:t>
            </a:r>
          </a:p>
          <a:p>
            <a:pPr>
              <a:defRPr sz="1100" b="1"/>
            </a:pPr>
            <a:r>
              <a:t>Fails: 559 | DPM: 287.1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57600" cy="1005840"/>
          </a:xfrm>
          <a:prstGeom prst="roundRect">
            <a:avLst/>
          </a:prstGeom>
          <a:solidFill>
            <a:srgbClr val="FFF0E6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280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QMON</a:t>
            </a:r>
          </a:p>
          <a:p>
            <a:pPr>
              <a:defRPr sz="1000"/>
            </a:pPr>
            <a:r>
              <a:t>FID UIN: 1,697,088</a:t>
            </a:r>
          </a:p>
          <a:p>
            <a:pPr>
              <a:defRPr sz="1100" b="1"/>
            </a:pPr>
            <a:r>
              <a:t>Fails: 324 | DPM: 190.9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188720"/>
            <a:ext cx="3657600" cy="1005840"/>
          </a:xfrm>
          <a:prstGeom prst="roundRect">
            <a:avLst/>
          </a:prstGeom>
          <a:solidFill>
            <a:srgbClr val="E6FFE6"/>
          </a:solidFill>
          <a:ln w="254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2801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00"/>
                </a:solidFill>
              </a:defRPr>
            </a:pPr>
            <a:r>
              <a:t>SLT (Combined)</a:t>
            </a:r>
          </a:p>
          <a:p>
            <a:pPr>
              <a:defRPr sz="1000"/>
            </a:pPr>
            <a:r>
              <a:t>FID UIN: 3,644,352</a:t>
            </a:r>
          </a:p>
          <a:p>
            <a:pPr>
              <a:defRPr sz="1100" b="1"/>
            </a:pPr>
            <a:r>
              <a:t>Fails: 883 | DPM: 478.0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MSN_STATUS Pareto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118872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MSN_STATUS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2697480"/>
            <a:ext cx="73152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69748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HMB1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697480"/>
            <a:ext cx="73152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69748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QMON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2697480"/>
            <a:ext cx="73152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269748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2697480"/>
            <a:ext cx="73152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69748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% SLT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5351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0000"/>
                </a:solidFill>
              </a:defRPr>
            </a:pPr>
            <a:r>
              <a:t>Mod-Sys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295351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C00000"/>
                </a:solidFill>
              </a:defRPr>
            </a:pPr>
            <a:r>
              <a:t>426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95351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C00000"/>
                </a:solidFill>
              </a:defRPr>
            </a:pPr>
            <a:r>
              <a:t>253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295351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C00000"/>
                </a:solidFill>
              </a:defRPr>
            </a:pPr>
            <a:r>
              <a:t>679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95351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C00000"/>
                </a:solidFill>
              </a:defRPr>
            </a:pPr>
            <a:r>
              <a:t>76.9%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9544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20954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20954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320954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77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20954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8.7%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465576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346557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46557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346557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346557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4.9%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72160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372160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372160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372160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35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372160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4.0%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9776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Multi-DQ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397764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397764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397764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397764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3.2%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233672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SB_Int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45920" y="423367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423367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423367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423367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1.4%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2377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FAILCRAWLER Pareto (Top 8)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2697480"/>
            <a:ext cx="256032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0" y="2697480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FAILCRAWLER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89520" y="2697480"/>
            <a:ext cx="73152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9520" y="269748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HMB1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21040" y="2697480"/>
            <a:ext cx="73152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269748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QMON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52559" y="2697480"/>
            <a:ext cx="73152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52559" y="269748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SLT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84080" y="2697480"/>
            <a:ext cx="73152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84080" y="269748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% Share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0" y="295351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0000"/>
                </a:solidFill>
              </a:defRPr>
            </a:pPr>
            <a:r>
              <a:t>MULTI_BANK_MULTI_DQ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9520" y="295351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C00000"/>
                </a:solidFill>
              </a:defRPr>
            </a:pPr>
            <a:r>
              <a:t>117.1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295351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C00000"/>
                </a:solidFill>
              </a:defRPr>
            </a:pPr>
            <a:r>
              <a:t>112.4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59" y="295351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C00000"/>
                </a:solidFill>
              </a:defRPr>
            </a:pPr>
            <a:r>
              <a:t>229.6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295351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C00000"/>
                </a:solidFill>
              </a:defRPr>
            </a:pPr>
            <a:r>
              <a:t>48.0%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0" y="320954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SINGLE_BURST_SINGLE_ROW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20" y="320954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56.7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320954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25.3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59" y="320954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82.0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84080" y="320954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17.2%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0" y="3465576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HGDC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89520" y="346557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41.0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346557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7.4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59" y="346557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48.4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84080" y="346557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10.1%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0" y="372160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MULTI_HALFBANK_MULTI_DQ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89520" y="372160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11.1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372160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8.2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59" y="372160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19.3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3721608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4.0%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0" y="3977640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89520" y="397764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17.5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1040" y="397764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0.6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52559" y="397764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18.0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84080" y="3977640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3.8%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0" y="423367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SYS_EVEN_BURST_BIT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89520" y="423367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10.2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21040" y="423367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5.6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52559" y="423367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15.8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784080" y="4233672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3.3%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29200" y="448970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MULTI_HALFBANK_SINGLE_DQ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589520" y="44897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6.3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21040" y="44897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4.1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52559" y="44897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10.5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84080" y="44897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2.2%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29200" y="4745736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DB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89520" y="474573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3.9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21040" y="474573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4.8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52559" y="474573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8.7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784080" y="4745736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1.8%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57200" y="4754880"/>
            <a:ext cx="11247120" cy="1920240"/>
          </a:xfrm>
          <a:prstGeom prst="roundRect">
            <a:avLst/>
          </a:prstGeom>
          <a:solidFill>
            <a:srgbClr val="FFFFF0"/>
          </a:solidFill>
          <a:ln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66400"/>
                </a:solidFill>
              </a:defRPr>
            </a:pPr>
            <a:r>
              <a:t>Key Insights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51206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/>
            </a:pPr>
            <a:r>
              <a:t>1. Mod-Sys dominates SLT (77%)</a:t>
            </a:r>
          </a:p>
          <a:p>
            <a:pPr>
              <a:defRPr sz="1000"/>
            </a:pPr>
            <a:r>
              <a:t>   • HMB1: 426 modules | QMON: 253 modules</a:t>
            </a:r>
          </a:p>
          <a:p>
            <a:pPr>
              <a:defRPr sz="1000"/>
            </a:pPr>
            <a:r>
              <a:t>   • Total: 679 modules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97679" y="51206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/>
            </a:pPr>
            <a:r>
              <a:t>2. Top FAILCRAWLER: MULTI_BANK_MULTI_DQ (48%)</a:t>
            </a:r>
          </a:p>
          <a:p>
            <a:pPr>
              <a:defRPr sz="1000"/>
            </a:pPr>
            <a:r>
              <a:t>   • HMB1: 117.1 cDPM | QMON: 112.4 cDPM</a:t>
            </a:r>
          </a:p>
          <a:p>
            <a:pPr>
              <a:defRPr sz="1000"/>
            </a:pPr>
            <a:r>
              <a:t>   • Total: 229.6 cDPM → BIOS 100% recoverable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46719" y="51206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/>
            </a:pPr>
            <a:r>
              <a:t>3. Recovery Potential: ~71%</a:t>
            </a:r>
          </a:p>
          <a:p>
            <a:pPr>
              <a:defRPr sz="1000"/>
            </a:pPr>
            <a:r>
              <a:t>   • BIOS 100%: 229.6 cDPM</a:t>
            </a:r>
          </a:p>
          <a:p>
            <a:pPr>
              <a:defRPr sz="1000"/>
            </a:pPr>
            <a:r>
              <a:t>   • BIOS 50%: 93.5 cDPM | HW+SOP: 18.0 cDPM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