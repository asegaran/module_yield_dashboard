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SLT Top Pareto Analysis (HMB1 + QMON)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SOCAMM2 | Y6CP | 7500MTPS | WW202606-202615 (10 weeks)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57600" cy="1005840"/>
          </a:xfrm>
          <a:prstGeom prst="roundRect">
            <a:avLst/>
          </a:prstGeom>
          <a:solidFill>
            <a:srgbClr val="E6F2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3383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70C0"/>
                </a:solidFill>
              </a:defRPr>
            </a:pPr>
            <a:r>
              <a:t>HMB1</a:t>
            </a:r>
          </a:p>
          <a:p>
            <a:pPr>
              <a:defRPr sz="1000"/>
            </a:pPr>
            <a:r>
              <a:t>FID UIN: 1,947,264  |  Fails: 559  |  DPM: 287.1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188720"/>
            <a:ext cx="3657600" cy="1005840"/>
          </a:xfrm>
          <a:prstGeom prst="roundRect">
            <a:avLst/>
          </a:prstGeom>
          <a:solidFill>
            <a:srgbClr val="FFF0E6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280160"/>
            <a:ext cx="3383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</a:defRPr>
            </a:pPr>
            <a:r>
              <a:t>QMON</a:t>
            </a:r>
          </a:p>
          <a:p>
            <a:pPr>
              <a:defRPr sz="1000"/>
            </a:pPr>
            <a:r>
              <a:t>FID UIN: 1,697,088  |  Fails: 324  |  DPM: 190.9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188720"/>
            <a:ext cx="3657600" cy="1005840"/>
          </a:xfrm>
          <a:prstGeom prst="roundRect">
            <a:avLst/>
          </a:prstGeom>
          <a:solidFill>
            <a:srgbClr val="E6FFE6"/>
          </a:solidFill>
          <a:ln w="25400"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280160"/>
            <a:ext cx="3383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9600"/>
                </a:solidFill>
              </a:defRPr>
            </a:pPr>
            <a:r>
              <a:t>SLT (Combined)</a:t>
            </a:r>
          </a:p>
          <a:p>
            <a:pPr>
              <a:defRPr sz="1000"/>
            </a:pPr>
            <a:r>
              <a:t>FID UIN: 3,644,352  |  Fails: 883  |  DPM: 478.0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MSN_STATUS Pareto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10972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MSN_STATUS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HMB1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QMON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39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% SLT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89504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00000"/>
                </a:solidFill>
              </a:defRPr>
            </a:pPr>
            <a:r>
              <a:t>Mod-Sys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253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679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127248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39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77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364991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39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60273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DQ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39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840480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Multi-DQ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39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0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078224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SB_Int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94560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39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23774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FAILCRAWLER Pareto (Top 8)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2651760"/>
            <a:ext cx="237744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0" y="2651760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FAILCRAWLER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23760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0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HMB1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QMON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03920" y="2651760"/>
            <a:ext cx="64008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3920" y="265176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SLT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0" y="2651760"/>
            <a:ext cx="548640" cy="23774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0" y="2651760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2889504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00000"/>
                </a:solidFill>
              </a:defRPr>
            </a:pPr>
            <a:r>
              <a:t>MULTI_BANK_MULTI_DQ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23760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117.1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112.4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03920" y="288950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229.6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2889504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00000"/>
                </a:solidFill>
              </a:defRPr>
            </a:pPr>
            <a:r>
              <a:t>48%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46320" y="3127248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SINGLE_BURST_SINGLE_ROW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0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56.7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25.3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31272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82.0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0" y="3127248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46320" y="3364991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HGDC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0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41.0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7.4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03920" y="3364991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48.4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0" y="3364991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46320" y="3602736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MULTI_HALFBANK_MULTI_DQ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11.1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0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8.2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36027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19.3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3602736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46320" y="3840480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HANG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0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17.5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63840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0.6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38404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18.0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0" y="3840480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46320" y="4078224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SYS_EVEN_BURST_BIT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23760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10.2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63840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5.6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03920" y="40782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15.8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0" y="4078224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3%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6320" y="4315968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MULTI_HALFBANK_SINGLE_DQ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23760" y="431596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6.3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63840" y="431596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4.1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431596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10.5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0" y="4315968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2%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46320" y="4553712"/>
            <a:ext cx="23774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DB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23760" y="4553712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3.9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63840" y="4553712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4.8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03920" y="4553712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8.7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0" y="4553712"/>
            <a:ext cx="5486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/>
            </a:pPr>
            <a:r>
              <a:t>2%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7200" y="4937760"/>
            <a:ext cx="11247120" cy="1737360"/>
          </a:xfrm>
          <a:prstGeom prst="roundRect">
            <a:avLst/>
          </a:prstGeom>
          <a:solidFill>
            <a:srgbClr val="FFFAEB"/>
          </a:solidFill>
          <a:ln>
            <a:solidFill>
              <a:srgbClr val="C89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66400"/>
                </a:solidFill>
              </a:defRPr>
            </a:pPr>
            <a:r>
              <a:t>Key Takeaways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0080" y="53492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1. Mod-Sys dominates (77%)</a:t>
            </a:r>
          </a:p>
          <a:p>
            <a:pPr>
              <a:defRPr sz="900">
                <a:solidFill>
                  <a:srgbClr val="505050"/>
                </a:solidFill>
              </a:defRPr>
            </a:pPr>
            <a:r>
              <a:t>679 modules = HMB1 (426) + QMON (253)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17920" y="534924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2. Top FAILCRAWLER: MULTI_BANK_MULTI_DQ (48%)</a:t>
            </a:r>
          </a:p>
          <a:p>
            <a:pPr>
              <a:defRPr sz="900">
                <a:solidFill>
                  <a:srgbClr val="505050"/>
                </a:solidFill>
              </a:defRPr>
            </a:pPr>
            <a:r>
              <a:t>229.6 cDPM combined → BIOS 100% recoverable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40080" y="598932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3. HANG accounts for 4%</a:t>
            </a:r>
          </a:p>
          <a:p>
            <a:pPr>
              <a:defRPr sz="900">
                <a:solidFill>
                  <a:srgbClr val="505050"/>
                </a:solidFill>
              </a:defRPr>
            </a:pPr>
            <a:r>
              <a:t>18.0 cDPM → HW+SOP 100% recoverable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17920" y="598932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4. Overall Recovery: 71%</a:t>
            </a:r>
          </a:p>
          <a:p>
            <a:pPr>
              <a:defRPr sz="900">
                <a:solidFill>
                  <a:srgbClr val="505050"/>
                </a:solidFill>
              </a:defRPr>
            </a:pPr>
            <a:r>
              <a:t>341 cDPM recoverable out of 478 total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FAILCRAWLER × MSN_STATUS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What causes each MSN_STATUS? (Each column sums to 100%)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2860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FAILCRAWLER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Mod-Sys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Multi-DQ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SB_Int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Boot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188720"/>
            <a:ext cx="914400" cy="347472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23444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Multi-Mod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58191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/>
            </a:pPr>
            <a:r>
              <a:t>MULTI_BANK_MULTI_DQ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1536192"/>
            <a:ext cx="914400" cy="347472"/>
          </a:xfrm>
          <a:prstGeom prst="rect">
            <a:avLst/>
          </a:prstGeom>
          <a:solidFill>
            <a:srgbClr val="DC2626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68%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153619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53619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153619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1536192"/>
            <a:ext cx="914400" cy="347472"/>
          </a:xfrm>
          <a:prstGeom prst="rect">
            <a:avLst/>
          </a:prstGeom>
          <a:solidFill>
            <a:srgbClr val="DC2626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58%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153619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153619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1536192"/>
            <a:ext cx="914400" cy="347472"/>
          </a:xfrm>
          <a:prstGeom prst="rect">
            <a:avLst/>
          </a:prstGeom>
          <a:solidFill>
            <a:srgbClr val="F87171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160934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33%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1929384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/>
            </a:pPr>
            <a:r>
              <a:t>SINGLE_BURST_SINGLE_ROW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1883664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9%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1883664"/>
            <a:ext cx="914400" cy="347472"/>
          </a:xfrm>
          <a:prstGeom prst="rect">
            <a:avLst/>
          </a:prstGeom>
          <a:solidFill>
            <a:srgbClr val="DC2626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188366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188366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188366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188366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188366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1883664"/>
            <a:ext cx="914400" cy="347472"/>
          </a:xfrm>
          <a:prstGeom prst="rect">
            <a:avLst/>
          </a:prstGeom>
          <a:solidFill>
            <a:srgbClr val="F87171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4000" y="195681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42%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2276856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/>
            </a:pPr>
            <a:r>
              <a:t>HGDC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2231136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0" y="2231136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223113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0" y="2231136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223113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15200" y="223113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0" y="223113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44000" y="223113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0" y="230428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2624327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MULTI_HALFBANK_MULTI_DQ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0" y="2578608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432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008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008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3152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152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296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144000" y="257860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0" y="265176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" y="2971800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HANG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432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0" y="2926080"/>
            <a:ext cx="914400" cy="347472"/>
          </a:xfrm>
          <a:prstGeom prst="rect">
            <a:avLst/>
          </a:prstGeom>
          <a:solidFill>
            <a:srgbClr val="DC2626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5720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864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4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008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2296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296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144000" y="292608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144000" y="299923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0" y="3319272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SYS_EVEN_BURST_BIT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0" y="3273552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1%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0" y="327355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6576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72000" y="327355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720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0" y="3273552"/>
            <a:ext cx="914400" cy="347472"/>
          </a:xfrm>
          <a:prstGeom prst="rect">
            <a:avLst/>
          </a:prstGeom>
          <a:solidFill>
            <a:srgbClr val="F87171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4864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48%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00800" y="3273552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008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315200" y="327355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152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229600" y="327355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2296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0" y="3273552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144000" y="3346704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666744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MULTI_HALFBANK_SINGLE_DQ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743200" y="3621024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7432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&lt;1%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657600" y="362102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6576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72000" y="362102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5720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486400" y="3621024"/>
            <a:ext cx="914400" cy="347472"/>
          </a:xfrm>
          <a:prstGeom prst="rect">
            <a:avLst/>
          </a:prstGeom>
          <a:solidFill>
            <a:srgbClr val="F87171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864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36%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400800" y="362102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008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315200" y="362102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3152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229600" y="362102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2296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144000" y="3621024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44000" y="3694176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7200" y="4014215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DB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743200" y="3968496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27432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&lt;1%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57600" y="3968496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14%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572000" y="396849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5720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486400" y="3968496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4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2%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400800" y="396849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08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315200" y="396849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3152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229600" y="396849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296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144000" y="3968496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00" y="4041648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7200" y="4361688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ROW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743200" y="4315968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7432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2%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657600" y="4315968"/>
            <a:ext cx="914400" cy="347472"/>
          </a:xfrm>
          <a:prstGeom prst="rect">
            <a:avLst/>
          </a:prstGeom>
          <a:solidFill>
            <a:srgbClr val="FEF2F2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6576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2%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572000" y="431596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5720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486400" y="431596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4864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400800" y="431596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08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315200" y="431596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3152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29600" y="4315968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2296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144000" y="4315968"/>
            <a:ext cx="914400" cy="347472"/>
          </a:xfrm>
          <a:prstGeom prst="rect">
            <a:avLst/>
          </a:prstGeom>
          <a:solidFill>
            <a:srgbClr val="FECAC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4000" y="4389120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17%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4709159"/>
            <a:ext cx="2286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/>
            </a:pPr>
            <a:r>
              <a:t>SB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27432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7432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6576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6576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5720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5720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4864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864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4008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4008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315200" y="4663440"/>
            <a:ext cx="914400" cy="347472"/>
          </a:xfrm>
          <a:prstGeom prst="rect">
            <a:avLst/>
          </a:prstGeom>
          <a:solidFill>
            <a:srgbClr val="DC2626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82296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82296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9144000" y="4663440"/>
            <a:ext cx="9144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9144000" y="4736592"/>
            <a:ext cx="914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4B4B4"/>
                </a:solidFill>
              </a:defRPr>
            </a:pPr>
            <a:r>
              <a:t>--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457200" y="5029200"/>
            <a:ext cx="11247120" cy="1645920"/>
          </a:xfrm>
          <a:prstGeom prst="roundRect">
            <a:avLst/>
          </a:prstGeom>
          <a:solidFill>
            <a:srgbClr val="F0F8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5096"/>
                </a:solidFill>
              </a:defRPr>
            </a:pPr>
            <a:r>
              <a:t>How to Read This Table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40080" y="5440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• Mod-Sys (77% of fails): 51% MULTI_BANK_MULTI_DQ + 18% SINGLE_BURST + 17% HGDC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40080" y="5715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• Row (9% of fails): 66% SINGLE_BURST_SINGLE_ROW + 18% DB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• Hang (4% of fails): 100% HANG (direct 1:1 mapping)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• DQ (5% of fails): 47% SYS_EVEN_BURST_BIT + 29% MULTI_HALFBANK_SINGLE_DQ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Recovery Potential by FAILCRAWLER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SLT Combined (HMB1 + QMON) | Total cDPM: 478.0 | Recovery: 71.4%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560320" cy="36576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FAILCRAWLER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39" y="1097280"/>
            <a:ext cx="822960" cy="36576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39" y="117043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cDPM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097280"/>
            <a:ext cx="1645920" cy="36576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17043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Recovery 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097280"/>
            <a:ext cx="731520" cy="36576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117043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097280"/>
            <a:ext cx="914400" cy="36576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1704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Recovered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097280"/>
            <a:ext cx="914400" cy="36576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1704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Remaining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53619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0000"/>
                </a:solidFill>
              </a:defRPr>
            </a:pPr>
            <a:r>
              <a:t>MULTI_BANK_MULTI_DQ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39" y="153619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229.6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463040"/>
            <a:ext cx="1645920" cy="365760"/>
          </a:xfrm>
          <a:prstGeom prst="rect">
            <a:avLst/>
          </a:prstGeom>
          <a:solidFill>
            <a:srgbClr val="0096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153619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BIOS 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153619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53619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229.6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153619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190195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0000"/>
                </a:solidFill>
              </a:defRPr>
            </a:pPr>
            <a:r>
              <a:t>SINGLE_BURST_SINGLE_ROW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39" y="190195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82.0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1828800"/>
            <a:ext cx="1645920" cy="365760"/>
          </a:xfrm>
          <a:prstGeom prst="rect">
            <a:avLst/>
          </a:prstGeom>
          <a:solidFill>
            <a:srgbClr val="64B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190195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BIOS 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190195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01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41.0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1901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41.0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226771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0000"/>
                </a:solidFill>
              </a:defRPr>
            </a:pPr>
            <a:r>
              <a:t>HGDC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39" y="226771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48.4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2194560"/>
            <a:ext cx="1645920" cy="365760"/>
          </a:xfrm>
          <a:prstGeom prst="rect">
            <a:avLst/>
          </a:prstGeom>
          <a:solidFill>
            <a:srgbClr val="64B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22677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BIOS 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226771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2677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24.2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22677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24.2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63347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MULTI_HALFBANK_MULTI_DQ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63347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19.3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2560320"/>
            <a:ext cx="1645920" cy="365760"/>
          </a:xfrm>
          <a:prstGeom prst="rect">
            <a:avLst/>
          </a:prstGeom>
          <a:solidFill>
            <a:srgbClr val="64B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263347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BIOS 50%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263347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263347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9.6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263347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9.6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299923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HANG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39" y="299923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18.0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0" y="2926080"/>
            <a:ext cx="1645920" cy="365760"/>
          </a:xfrm>
          <a:prstGeom prst="rect">
            <a:avLst/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0" y="299923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HW+SOP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720" y="299923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100%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29992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18.0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29992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336499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SYS_EVEN_BURST_BIT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91839" y="336499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15.8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0" y="3291840"/>
            <a:ext cx="1645920" cy="365760"/>
          </a:xfrm>
          <a:prstGeom prst="rect">
            <a:avLst/>
          </a:prstGeom>
          <a:solidFill>
            <a:srgbClr val="64B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0" y="336499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BIOS 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336499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336499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336499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7.9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373075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MULTI_HALFBANK_SINGLE_DQ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1839" y="373075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10.5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0" y="3657600"/>
            <a:ext cx="1645920" cy="365760"/>
          </a:xfrm>
          <a:prstGeom prst="rect">
            <a:avLst/>
          </a:prstGeom>
          <a:solidFill>
            <a:srgbClr val="64B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0" y="373075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BIOS 50%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0" y="373075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7307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5.2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37307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5.2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409651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91839" y="409651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8.7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0" y="4023360"/>
            <a:ext cx="1645920" cy="365760"/>
          </a:xfrm>
          <a:prstGeom prst="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0" y="40965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No Recovery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60720" y="409651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0" y="40965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965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8.7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446227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39" y="446227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7.2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0" y="4389120"/>
            <a:ext cx="1645920" cy="365760"/>
          </a:xfrm>
          <a:prstGeom prst="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0" y="446227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No Recovery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60720" y="446227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92240" y="446227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06640" y="446227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7.2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" y="482803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000000"/>
                </a:solidFill>
              </a:defRPr>
            </a:pPr>
            <a:r>
              <a:t>SB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482803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6.5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0" y="4754880"/>
            <a:ext cx="1645920" cy="365760"/>
          </a:xfrm>
          <a:prstGeom prst="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14800" y="482803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</a:defRPr>
            </a:pPr>
            <a:r>
              <a:t>No Recovery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20" y="482803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92240" y="48280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48280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</a:defRPr>
            </a:pPr>
            <a:r>
              <a:t>6.5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120640"/>
            <a:ext cx="2560320" cy="36576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5193792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TOTAL (Top 10)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91839" y="5120640"/>
            <a:ext cx="822960" cy="36576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291839" y="519379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445.8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0" y="5120640"/>
            <a:ext cx="1645920" cy="36576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0" y="519379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</a:p>
        </p:txBody>
      </p:sp>
      <p:sp>
        <p:nvSpPr>
          <p:cNvPr id="92" name="Rectangle 91"/>
          <p:cNvSpPr/>
          <p:nvPr/>
        </p:nvSpPr>
        <p:spPr>
          <a:xfrm>
            <a:off x="5760720" y="5120640"/>
            <a:ext cx="731520" cy="36576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760720" y="519379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</a:p>
        </p:txBody>
      </p:sp>
      <p:sp>
        <p:nvSpPr>
          <p:cNvPr id="94" name="Rectangle 93"/>
          <p:cNvSpPr/>
          <p:nvPr/>
        </p:nvSpPr>
        <p:spPr>
          <a:xfrm>
            <a:off x="6492240" y="5120640"/>
            <a:ext cx="914400" cy="36576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92240" y="519379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335.6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406640" y="5120640"/>
            <a:ext cx="914400" cy="36576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0" y="519379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110.3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7200" y="5486400"/>
            <a:ext cx="11247120" cy="1188720"/>
          </a:xfrm>
          <a:prstGeom prst="roundRect">
            <a:avLst/>
          </a:prstGeom>
          <a:solidFill>
            <a:srgbClr val="E6FFE6"/>
          </a:solidFill>
          <a:ln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6400"/>
                </a:solidFill>
              </a:defRPr>
            </a:pPr>
            <a:r>
              <a:t>Recovery Summary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0080" y="589788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• BIOS 100% (MULTI_BANK_MULTI_DQ): 229.6 cDPM → 229.6 recovered (100%)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60807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• BIOS 50% (BURST/HALFBANK/PERIPH): 93.5 cDPM → 46.8 recovered (50%)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0080" y="62636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• HW+SOP (HANG): 18.0 cDPM → 18.0 recovered (100%)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0080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• No Recovery (DB, SB, etc.): 17.5 cDPM → 0 recovered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