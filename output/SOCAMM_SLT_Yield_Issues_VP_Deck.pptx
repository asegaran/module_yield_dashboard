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293"/>
                </a:solidFill>
              </a:defRPr>
            </a:pPr>
            <a:r>
              <a:t>SOCAMM / SOCAMM2 SLT Yield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Current Drivers, Containment,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Scope: Y6CP 7500MTPS (SOCAMM2 192GB)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t>Definitions: SLT = HMB1 × QMON  |  ELC = HMFN × SLT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WW202614 (Apr'26) | Prepared for: Debra Bell, 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Executive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DC3545"/>
                </a:solidFill>
              </a:defRPr>
            </a:pPr>
            <a:r>
              <a:t>Current Status</a:t>
            </a:r>
          </a:p>
          <a:p>
            <a:pPr lvl="1"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Y6CP 7500MTPS SOCAMM2: SLT yield at 97.34% — meeting short-term target (97%) but significant gap to long-term target of 99.5% (-2.16%). Continued focus required.</a:t>
            </a:r>
          </a:p>
          <a:p>
            <a:pPr>
              <a:spcAft>
                <a:spcPts val="600"/>
              </a:spcAft>
              <a:defRPr sz="2400" b="1">
                <a:solidFill>
                  <a:srgbClr val="FF9100"/>
                </a:solidFill>
              </a:defRPr>
            </a:pPr>
            <a:r>
              <a:t>Top Drivers</a:t>
            </a:r>
          </a:p>
          <a:p>
            <a:pPr lvl="1"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• Hung / CPU Thermal issues</a:t>
            </a:r>
            <a:br/>
            <a:r>
              <a:t>• Mod-Sys failures (decode limitations)</a:t>
            </a:r>
            <a:br/>
            <a:r>
              <a:t>• Blank pre-test failures</a:t>
            </a:r>
          </a:p>
          <a:p>
            <a:pPr>
              <a:spcAft>
                <a:spcPts val="600"/>
              </a:spcAft>
              <a:defRPr sz="2400" b="1">
                <a:solidFill>
                  <a:srgbClr val="28A745"/>
                </a:solidFill>
              </a:defRPr>
            </a:pPr>
            <a:r>
              <a:t>What's Improved</a:t>
            </a:r>
          </a:p>
          <a:p>
            <a:pPr lvl="1">
              <a:defRPr sz="1800">
                <a:solidFill>
                  <a:srgbClr val="404040"/>
                </a:solidFill>
              </a:defRPr>
            </a:pPr>
            <a:r>
              <a:t>New BIOS implementation enabling better decode and reducing Mod-Sys failures. Retest shows high recoverability on Mod-Sys classified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Quantify the Gap: Y6CP 7500MTPS Yield vs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5293"/>
                </a:solidFill>
              </a:defRPr>
            </a:pPr>
            <a:r>
              <a:t>Target Yields (C2 Y6CP 7.5Gbps)</a:t>
            </a:r>
          </a:p>
          <a:p>
            <a:pPr>
              <a:spcAft>
                <a:spcPts val="2400"/>
              </a:spcAft>
              <a:defRPr sz="1600">
                <a:solidFill>
                  <a:srgbClr val="404040"/>
                </a:solidFill>
              </a:defRPr>
            </a:pPr>
            <a:r>
              <a:t>• HMFN Target: 99.00%</a:t>
            </a:r>
            <a:br/>
            <a:r>
              <a:t>• SLT Short-term Target: 97.00% (Mar'26+)</a:t>
            </a:r>
            <a:br/>
            <a:r>
              <a:t>• SLT Long-term Target: 99.50%</a:t>
            </a:r>
            <a:br/>
            <a:r>
              <a:t>• ELC Target: 96.03% (Mar+)</a:t>
            </a:r>
          </a:p>
          <a:p>
            <a:pPr>
              <a:spcAft>
                <a:spcPts val="1200"/>
              </a:spcAft>
              <a:defRPr sz="2000" b="1">
                <a:solidFill>
                  <a:srgbClr val="005293"/>
                </a:solidFill>
              </a:defRPr>
            </a:pPr>
            <a:r>
              <a:t>Current Performance (WW202605-WW202614)</a:t>
            </a:r>
          </a:p>
          <a:p>
            <a:pPr>
              <a:spcAft>
                <a:spcPts val="2400"/>
              </a:spcAft>
              <a:defRPr sz="1600">
                <a:solidFill>
                  <a:srgbClr val="404040"/>
                </a:solidFill>
              </a:defRPr>
            </a:pPr>
            <a:r>
              <a:t>• HMFN FY: 98.42% (vs 99.00% target) — Gap: -0.58%</a:t>
            </a:r>
            <a:br/>
            <a:r>
              <a:t>• HMB1 FY: 98.42%</a:t>
            </a:r>
            <a:br/>
            <a:r>
              <a:t>• QMON FY: 98.90%</a:t>
            </a:r>
            <a:br/>
            <a:r>
              <a:t>• SLT FY: 97.34% (vs 97.00% target) — Gap: +0.34%</a:t>
            </a:r>
            <a:br/>
            <a:r>
              <a:t>• ELC FY: 95.80% (vs 96.03% target) — Gap: -0.23%</a:t>
            </a:r>
            <a:br/>
            <a:br/>
            <a:r>
              <a:t>Volume: 30,164 units tested at HMFN</a:t>
            </a:r>
          </a:p>
          <a:p>
            <a:pPr>
              <a:spcAft>
                <a:spcPts val="800"/>
              </a:spcAft>
              <a:defRPr sz="2000" b="1">
                <a:solidFill>
                  <a:srgbClr val="DC3545"/>
                </a:solidFill>
              </a:defRPr>
            </a:pPr>
            <a:r>
              <a:t>Gap to Long-term Target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• SLT at 97.34% — Gap to long-term 99.5% target: -2.16%</a:t>
            </a:r>
            <a:br/>
            <a:r>
              <a:t>• Top SLT loss drivers: Hung/CPU Thermal, Mod-Sys, Blank pre-test</a:t>
            </a:r>
            <a:br/>
            <a:r>
              <a:t>• HMFN yield gap (-0.58%) also contributing to ELC miss</a:t>
            </a:r>
            <a:br/>
            <a:r>
              <a:t>• WW202612 anomaly: HMFN dropped to 65.04% (under investigation)</a:t>
            </a:r>
          </a:p>
          <a:p>
            <a:br/>
            <a:pPr>
              <a:defRPr sz="1200" i="1">
                <a:solidFill>
                  <a:srgbClr val="404040"/>
                </a:solidFill>
              </a:defRPr>
            </a:pPr>
            <a:r>
              <a:t>Source: Module Yield Dashboard - Data as of WW202614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Primary Driver 1: Hung / CPU Thermal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C3545"/>
                </a:solidFill>
              </a:defRPr>
            </a:pPr>
            <a:r>
              <a:t>Root Cause Analysis</a:t>
            </a:r>
          </a:p>
          <a:p>
            <a:pPr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• CPU temperature remains high (~90°C) on short engineering test program</a:t>
            </a:r>
            <a:br/>
            <a:r>
              <a:t>• Root cause leaning toward equipment-related issue, not test program dependent</a:t>
            </a:r>
            <a:br/>
            <a:r>
              <a:t>• Boards under FA lockdown due to elevated CPU temperatures</a:t>
            </a:r>
          </a:p>
          <a:p>
            <a:pPr>
              <a:spcAft>
                <a:spcPts val="1200"/>
              </a:spcAft>
              <a:defRPr sz="2000" b="1">
                <a:solidFill>
                  <a:srgbClr val="FF9100"/>
                </a:solidFill>
              </a:defRPr>
            </a:pPr>
            <a:r>
              <a:t>Ongoing Investigation</a:t>
            </a:r>
          </a:p>
          <a:p>
            <a:pPr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• Data collection via IPMI monitoring in progress</a:t>
            </a:r>
            <a:br/>
            <a:r>
              <a:t>• Equipment forum investigation ongoing</a:t>
            </a:r>
            <a:br/>
            <a:r>
              <a:t>• Thermal solution evaluation underway</a:t>
            </a:r>
          </a:p>
          <a:p>
            <a:pPr>
              <a:spcAft>
                <a:spcPts val="1200"/>
              </a:spcAft>
              <a:defRPr sz="2000" b="1">
                <a:solidFill>
                  <a:srgbClr val="005293"/>
                </a:solidFill>
              </a:defRPr>
            </a:pPr>
            <a:r>
              <a:t>Yield Impact</a:t>
            </a:r>
          </a:p>
          <a:p>
            <a:pPr>
              <a:defRPr sz="1600" i="1">
                <a:solidFill>
                  <a:srgbClr val="404040"/>
                </a:solidFill>
              </a:defRPr>
            </a:pPr>
            <a:r>
              <a:t>[INSERT FAILCRAWLER DATA: Hung failure contribution to SLT fallout]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Primary Driver 2: Mod-Sys + Decode Confidence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C3545"/>
                </a:solidFill>
              </a:defRPr>
            </a:pPr>
            <a:r>
              <a:t>Key Challenge: Decode Limitation</a:t>
            </a:r>
          </a:p>
          <a:p>
            <a:pPr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• Mod-Sys failures indicate system-level issues with limited decode capability</a:t>
            </a:r>
            <a:br/>
            <a:r>
              <a:t>• Current BIOS encryption limits failure analysis depth</a:t>
            </a:r>
            <a:br/>
            <a:r>
              <a:t>• System-to-DQ mapping needed for accurate failure attribution</a:t>
            </a:r>
          </a:p>
          <a:p>
            <a:pPr>
              <a:spcAft>
                <a:spcPts val="1200"/>
              </a:spcAft>
              <a:defRPr sz="2000" b="1">
                <a:solidFill>
                  <a:srgbClr val="28A745"/>
                </a:solidFill>
              </a:defRPr>
            </a:pPr>
            <a:r>
              <a:t>BIOS Improvement</a:t>
            </a:r>
          </a:p>
          <a:p>
            <a:pPr>
              <a:spcAft>
                <a:spcPts val="2400"/>
              </a:spcAft>
              <a:defRPr sz="1800">
                <a:solidFill>
                  <a:srgbClr val="404040"/>
                </a:solidFill>
              </a:defRPr>
            </a:pPr>
            <a:r>
              <a:t>• New BIOS implementation enabled to ensure failures are decoded correctly</a:t>
            </a:r>
            <a:br/>
            <a:r>
              <a:t>• Encryption-disabled BIOS enables deeper debugging</a:t>
            </a:r>
            <a:br/>
            <a:r>
              <a:t>• Improved system-to-DQ mapping for accurate failure classification</a:t>
            </a:r>
          </a:p>
          <a:p>
            <a:pPr>
              <a:spcAft>
                <a:spcPts val="1200"/>
              </a:spcAft>
              <a:defRPr sz="2000" b="1">
                <a:solidFill>
                  <a:srgbClr val="005293"/>
                </a:solidFill>
              </a:defRPr>
            </a:pPr>
            <a:r>
              <a:t>Retest Results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Retest shows high recoverability on Mod-Sys classified units</a:t>
            </a:r>
            <a:br/>
            <a:r>
              <a:t>• Ongoing deep dive to quantify true DRAM vs system failures</a:t>
            </a:r>
            <a:br/>
            <a:r>
              <a:t>• [INSERT: Mod-Sys retest pass rate from FAILCRAWLER analysis]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Containment, Owners &amp; Executive 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5293"/>
                </a:solidFill>
              </a:defRPr>
            </a:pPr>
            <a:r>
              <a:t>Containment Actions</a:t>
            </a:r>
          </a:p>
          <a:p>
            <a:pPr>
              <a:spcAft>
                <a:spcPts val="1600"/>
              </a:spcAft>
              <a:defRPr sz="1400">
                <a:solidFill>
                  <a:srgbClr val="404040"/>
                </a:solidFill>
              </a:defRPr>
            </a:pPr>
            <a:r>
              <a:t>• Taskforce ongoing to address yield impact</a:t>
            </a:r>
            <a:br/>
            <a:r>
              <a:t>• Pre-testing issue investigation active</a:t>
            </a:r>
            <a:br/>
            <a:r>
              <a:t>• New BIOS deployment in progress</a:t>
            </a:r>
            <a:br/>
            <a:r>
              <a:t>• Thermal monitoring enhanced</a:t>
            </a:r>
          </a:p>
          <a:p>
            <a:pPr>
              <a:spcAft>
                <a:spcPts val="800"/>
              </a:spcAft>
              <a:defRPr sz="1800" b="1">
                <a:solidFill>
                  <a:srgbClr val="005293"/>
                </a:solidFill>
              </a:defRPr>
            </a:pPr>
            <a:r>
              <a:t>Action Owners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• Hung/Thermal: [Equipment Team]</a:t>
            </a:r>
            <a:br/>
            <a:r>
              <a:t>• Mod-Sys/Decode: [BIOS/Debug Team]</a:t>
            </a:r>
            <a:br/>
            <a:r>
              <a:t>• Blank Pre-test: [Test Engineering]</a:t>
            </a:r>
            <a:br/>
            <a:r>
              <a:t>• Tracking/DOE: [Yield Engineering]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3545"/>
                </a:solidFill>
              </a:defRPr>
            </a:pPr>
            <a:r>
              <a:t>Executive Asks</a:t>
            </a:r>
          </a:p>
          <a:p>
            <a:pPr>
              <a:spcAft>
                <a:spcPts val="2400"/>
              </a:spcAft>
              <a:defRPr sz="1400">
                <a:solidFill>
                  <a:srgbClr val="404040"/>
                </a:solidFill>
              </a:defRPr>
            </a:pPr>
            <a:r>
              <a:t>1. Equipment team resource prioritization</a:t>
            </a:r>
            <a:br/>
            <a:r>
              <a:t>   for thermal root cause</a:t>
            </a:r>
            <a:br/>
            <a:br/>
            <a:r>
              <a:t>2. Expedited BIOS release approval for</a:t>
            </a:r>
            <a:br/>
            <a:r>
              <a:t>   decode improvement</a:t>
            </a:r>
            <a:br/>
            <a:br/>
            <a:r>
              <a:t>3. Cross-functional alignment on</a:t>
            </a:r>
            <a:br/>
            <a:r>
              <a:t>   Mod-Sys classification criteria</a:t>
            </a:r>
          </a:p>
          <a:p>
            <a:pPr>
              <a:spcAft>
                <a:spcPts val="800"/>
              </a:spcAft>
              <a:defRPr sz="1800" b="1">
                <a:solidFill>
                  <a:srgbClr val="28A745"/>
                </a:solidFill>
              </a:defRPr>
            </a:pPr>
            <a:r>
              <a:t>Target Timeline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• Thermal RC: +2 weeks</a:t>
            </a:r>
            <a:br/>
            <a:r>
              <a:t>• New BIOS deployment: +1 week</a:t>
            </a:r>
            <a:br/>
            <a:r>
              <a:t>• Yield target achievement: [TBD based on RC]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