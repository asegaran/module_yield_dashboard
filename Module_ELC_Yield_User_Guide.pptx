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Module ELC Yield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Step-by-Step User Guide | Module Yield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Overview: Module ELC Yield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What This Tab Does</a:t>
            </a:r>
          </a:p>
          <a:p>
            <a:pPr>
              <a:spcBef>
                <a:spcPts val="600"/>
              </a:spcBef>
              <a:defRPr sz="1600"/>
            </a:pPr>
            <a:r>
              <a:t>Track HMFN, SLT, and ELC yields over time</a:t>
            </a:r>
          </a:p>
          <a:p>
            <a:pPr>
              <a:spcBef>
                <a:spcPts val="600"/>
              </a:spcBef>
              <a:defRPr sz="1600"/>
            </a:pPr>
            <a:r>
              <a:t>Compare actual performance vs D1 projection targets</a:t>
            </a:r>
          </a:p>
          <a:p>
            <a:pPr>
              <a:spcBef>
                <a:spcPts val="600"/>
              </a:spcBef>
              <a:defRPr sz="1600"/>
            </a:pPr>
            <a:r>
              <a:t>Filter by DID, Density, Speed, and Work Week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Key Features</a:t>
            </a:r>
          </a:p>
          <a:p>
            <a:pPr>
              <a:spcBef>
                <a:spcPts val="600"/>
              </a:spcBef>
              <a:defRPr sz="1600"/>
            </a:pPr>
            <a:r>
              <a:t>Multi-series selection (compare different configs)</a:t>
            </a:r>
          </a:p>
          <a:p>
            <a:pPr>
              <a:spcBef>
                <a:spcPts val="600"/>
              </a:spcBef>
              <a:defRPr sz="1600"/>
            </a:pPr>
            <a:r>
              <a:t>D1 Target curves with future projections (+8 weeks)</a:t>
            </a:r>
          </a:p>
          <a:p>
            <a:pPr>
              <a:spcBef>
                <a:spcPts val="600"/>
              </a:spcBef>
              <a:defRPr sz="1600"/>
            </a:pPr>
            <a:r>
              <a:t>Historical curve comparison (D0 vs D1)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When to Use</a:t>
            </a:r>
          </a:p>
          <a:p>
            <a:pPr>
              <a:spcBef>
                <a:spcPts val="600"/>
              </a:spcBef>
              <a:defRPr sz="1600"/>
            </a:pPr>
            <a:r>
              <a:t>Weekly yield reviews and gap-to-target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1: Configure Sidebar Filters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Required Filters</a:t>
            </a:r>
          </a:p>
          <a:p>
            <a:pPr>
              <a:spcBef>
                <a:spcPts val="600"/>
              </a:spcBef>
              <a:defRPr sz="1600"/>
            </a:pPr>
            <a:r>
              <a:t>Form Factor: SOCAMM or SOCAMM2</a:t>
            </a:r>
          </a:p>
          <a:p>
            <a:pPr>
              <a:spcBef>
                <a:spcPts val="600"/>
              </a:spcBef>
              <a:defRPr sz="1600"/>
            </a:pPr>
            <a:r>
              <a:t>Test Step: Select HMFN, HMB1, QMON</a:t>
            </a:r>
          </a:p>
          <a:p>
            <a:pPr>
              <a:spcBef>
                <a:spcPts val="600"/>
              </a:spcBef>
              <a:defRPr sz="1600"/>
            </a:pPr>
            <a:r>
              <a:t>Design ID: Y62P, Y6CP, Y63N, etc.</a:t>
            </a:r>
          </a:p>
          <a:p>
            <a:pPr>
              <a:spcBef>
                <a:spcPts val="600"/>
              </a:spcBef>
              <a:defRPr sz="1600"/>
            </a:pPr>
            <a:r>
              <a:t>Work Week: Select year and week range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For Target Lines (Important!)</a:t>
            </a:r>
          </a:p>
          <a:p>
            <a:pPr>
              <a:spcBef>
                <a:spcPts val="600"/>
              </a:spcBef>
              <a:defRPr sz="1600"/>
            </a:pPr>
            <a:r>
              <a:t>Select SINGLE value for: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DID (one design ID)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Density (one density)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Speed (one speed)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Click 'Fetch Data' when ready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87878"/>
                </a:solidFill>
              </a:defRPr>
            </a:pPr>
            <a:r>
              <a:t>[Screenshot: Sidebar filters]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2: Select Series to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Series Selector (Section 2)</a:t>
            </a:r>
          </a:p>
          <a:p>
            <a:pPr>
              <a:spcBef>
                <a:spcPts val="600"/>
              </a:spcBef>
              <a:defRPr sz="1600"/>
            </a:pPr>
            <a:r>
              <a:t>Format: DID_STEP_DENSITY_SPEED</a:t>
            </a:r>
          </a:p>
          <a:p>
            <a:pPr>
              <a:spcBef>
                <a:spcPts val="600"/>
              </a:spcBef>
              <a:defRPr sz="1600"/>
            </a:pPr>
            <a:r>
              <a:t>Example: Y62P_ELC_128GB_6400MTPS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Quick Selection Buttons</a:t>
            </a:r>
          </a:p>
          <a:p>
            <a:pPr>
              <a:spcBef>
                <a:spcPts val="600"/>
              </a:spcBef>
              <a:defRPr sz="1600"/>
            </a:pPr>
            <a:r>
              <a:t>'Select All HMFN' - adds all HMFN series</a:t>
            </a:r>
          </a:p>
          <a:p>
            <a:pPr>
              <a:spcBef>
                <a:spcPts val="600"/>
              </a:spcBef>
              <a:defRPr sz="1600"/>
            </a:pPr>
            <a:r>
              <a:t>'Select All SLT' - adds all SLT series</a:t>
            </a:r>
          </a:p>
          <a:p>
            <a:pPr>
              <a:spcBef>
                <a:spcPts val="600"/>
              </a:spcBef>
              <a:defRPr sz="1600"/>
            </a:pPr>
            <a:r>
              <a:t>'Select All ELC' - adds all ELC series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For Target Lines</a:t>
            </a:r>
          </a:p>
          <a:p>
            <a:pPr>
              <a:spcBef>
                <a:spcPts val="600"/>
              </a:spcBef>
              <a:defRPr sz="1600"/>
            </a:pPr>
            <a:r>
              <a:t>All selected series must share: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Same DID + Same Density + Same Speed</a:t>
            </a:r>
          </a:p>
          <a:p>
            <a:pPr>
              <a:spcBef>
                <a:spcPts val="600"/>
              </a:spcBef>
              <a:defRPr sz="1600"/>
            </a:pPr>
            <a:r>
              <a:t>Mixed configs = warning shown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87878"/>
                </a:solidFill>
              </a:defRPr>
            </a:pPr>
            <a:r>
              <a:t>[Screenshot: Series selector]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3: Enable Target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Target Controls (Above Chart)</a:t>
            </a:r>
          </a:p>
          <a:p>
            <a:pPr>
              <a:spcBef>
                <a:spcPts val="600"/>
              </a:spcBef>
              <a:defRPr sz="1600"/>
            </a:pPr>
            <a:r>
              <a:t>Target Curve dropdown: Select D1 or D0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D1 = Active projection (use this)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D0 = Historical reference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600"/>
              </a:spcBef>
              <a:defRPr sz="1600"/>
            </a:pPr>
            <a:r>
              <a:t>Show Targets checkbox: Enable target lines</a:t>
            </a:r>
          </a:p>
          <a:p>
            <a:pPr>
              <a:spcBef>
                <a:spcPts val="600"/>
              </a:spcBef>
              <a:defRPr sz="1600"/>
            </a:pPr>
            <a:r>
              <a:t>+ Future (8wk): Extend targets 8 weeks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Target Line Colors</a:t>
            </a:r>
          </a:p>
          <a:p>
            <a:pPr>
              <a:spcBef>
                <a:spcPts val="600"/>
              </a:spcBef>
              <a:defRPr sz="1600"/>
            </a:pPr>
            <a:r>
              <a:t>HMFN: Blue dotted line</a:t>
            </a:r>
          </a:p>
          <a:p>
            <a:pPr>
              <a:spcBef>
                <a:spcPts val="600"/>
              </a:spcBef>
              <a:defRPr sz="1600"/>
            </a:pPr>
            <a:r>
              <a:t>SLT: Red dotted line</a:t>
            </a:r>
          </a:p>
          <a:p>
            <a:pPr>
              <a:spcBef>
                <a:spcPts val="600"/>
              </a:spcBef>
              <a:defRPr sz="1600"/>
            </a:pPr>
            <a:r>
              <a:t>ELC: Green dotted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87878"/>
                </a:solidFill>
              </a:defRPr>
            </a:pPr>
            <a:r>
              <a:t>[Screenshot: Target controls]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4: Interpret the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Solid Lines = Actual Yield</a:t>
            </a:r>
          </a:p>
          <a:p>
            <a:pPr>
              <a:spcBef>
                <a:spcPts val="600"/>
              </a:spcBef>
              <a:defRPr sz="1600"/>
            </a:pPr>
            <a:r>
              <a:t>Your real production performance</a:t>
            </a:r>
          </a:p>
          <a:p>
            <a:pPr>
              <a:spcBef>
                <a:spcPts val="600"/>
              </a:spcBef>
              <a:defRPr sz="1600"/>
            </a:pPr>
            <a:r>
              <a:t>Each config has unique color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Dotted Lines = Target</a:t>
            </a:r>
          </a:p>
          <a:p>
            <a:pPr>
              <a:spcBef>
                <a:spcPts val="600"/>
              </a:spcBef>
              <a:defRPr sz="1600"/>
            </a:pPr>
            <a:r>
              <a:t>D1 projection for that config</a:t>
            </a:r>
          </a:p>
          <a:p>
            <a:pPr>
              <a:spcBef>
                <a:spcPts val="600"/>
              </a:spcBef>
              <a:defRPr sz="1600"/>
            </a:pPr>
            <a:r>
              <a:t>Gap = Actual - Target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Chart Controls</a:t>
            </a:r>
          </a:p>
          <a:p>
            <a:pPr>
              <a:spcBef>
                <a:spcPts val="600"/>
              </a:spcBef>
              <a:defRPr sz="1600"/>
            </a:pPr>
            <a:r>
              <a:t>Y-axis min %: Zoom in (set to 90+)</a:t>
            </a:r>
          </a:p>
          <a:p>
            <a:pPr>
              <a:spcBef>
                <a:spcPts val="600"/>
              </a:spcBef>
              <a:defRPr sz="1600"/>
            </a:pPr>
            <a:r>
              <a:t>Show data labels: Values on points</a:t>
            </a:r>
          </a:p>
          <a:p>
            <a:pPr>
              <a:spcBef>
                <a:spcPts val="600"/>
              </a:spcBef>
              <a:defRPr sz="1600"/>
            </a:pPr>
            <a:r>
              <a:t>Hover: See exact values</a:t>
            </a:r>
          </a:p>
          <a:p>
            <a:pPr>
              <a:spcBef>
                <a:spcPts val="600"/>
              </a:spcBef>
              <a:defRPr sz="1600"/>
            </a:pPr>
            <a:r>
              <a:t>Click legend: Show/hide series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87878"/>
                </a:solidFill>
              </a:defRPr>
            </a:pPr>
            <a:r>
              <a:t>[Screenshot: Chart with targets]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Understanding the Warning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When You See This Warning:</a:t>
            </a:r>
          </a:p>
          <a:p>
            <a:pPr>
              <a:spcBef>
                <a:spcPts val="600"/>
              </a:spcBef>
              <a:defRPr sz="1600"/>
            </a:pPr>
            <a:r>
              <a:t>'Targets require single config. Select series</a:t>
            </a:r>
          </a:p>
          <a:p>
            <a:pPr>
              <a:spcBef>
                <a:spcPts val="600"/>
              </a:spcBef>
              <a:defRPr sz="1600"/>
            </a:pPr>
            <a:r>
              <a:t>with same DID + Density + Speed to show targets.'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Why It Appears</a:t>
            </a:r>
          </a:p>
          <a:p>
            <a:pPr>
              <a:spcBef>
                <a:spcPts val="600"/>
              </a:spcBef>
              <a:defRPr sz="1600"/>
            </a:pPr>
            <a:r>
              <a:t>You selected series with DIFFERENT configs: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Y62P_ELC_128GB_6400MTPS</a:t>
            </a:r>
          </a:p>
          <a:p>
            <a:pPr>
              <a:spcBef>
                <a:spcPts val="400"/>
              </a:spcBef>
              <a:defRPr sz="1400">
                <a:solidFill>
                  <a:srgbClr val="505050"/>
                </a:solidFill>
              </a:defRPr>
            </a:pPr>
            <a:r>
              <a:t>  - Y62P_ELC_64GB_8533MTPS  &lt;- Different!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How to Fix</a:t>
            </a:r>
          </a:p>
          <a:p>
            <a:pPr>
              <a:spcBef>
                <a:spcPts val="600"/>
              </a:spcBef>
              <a:defRPr sz="1600"/>
            </a:pPr>
            <a:r>
              <a:t>Option 1: Select only ONE config's series</a:t>
            </a:r>
          </a:p>
          <a:p>
            <a:pPr>
              <a:spcBef>
                <a:spcPts val="600"/>
              </a:spcBef>
              <a:defRPr sz="1600"/>
            </a:pPr>
            <a:r>
              <a:t>Option 2: Use sidebar filters to restrict to single config</a:t>
            </a:r>
          </a:p>
          <a:p>
            <a:pPr>
              <a:spcBef>
                <a:spcPts val="600"/>
              </a:spcBef>
              <a:defRPr sz="1600"/>
            </a:pPr>
            <a:r>
              <a:t>Option 3: Compare without targets (disable checkbox)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87878"/>
                </a:solidFill>
              </a:defRPr>
            </a:pPr>
            <a:r>
              <a:t>[Screenshot: Warning message]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Example: Y6CP 192GB 7500MTPS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Filter Setup</a:t>
            </a:r>
          </a:p>
          <a:p>
            <a:pPr>
              <a:spcBef>
                <a:spcPts val="600"/>
              </a:spcBef>
              <a:defRPr sz="1600"/>
            </a:pPr>
            <a:r>
              <a:t>Form Factor: SOCAMM2</a:t>
            </a:r>
          </a:p>
          <a:p>
            <a:pPr>
              <a:spcBef>
                <a:spcPts val="600"/>
              </a:spcBef>
              <a:defRPr sz="1600"/>
            </a:pPr>
            <a:r>
              <a:t>Design ID: Y6CP</a:t>
            </a:r>
          </a:p>
          <a:p>
            <a:pPr>
              <a:spcBef>
                <a:spcPts val="600"/>
              </a:spcBef>
              <a:defRPr sz="1600"/>
            </a:pPr>
            <a:r>
              <a:t>Density: 192GB | Speed: 7500MTPS</a:t>
            </a:r>
          </a:p>
          <a:p>
            <a:pPr>
              <a:spcBef>
                <a:spcPts val="600"/>
              </a:spcBef>
              <a:defRPr sz="1600"/>
            </a:pPr>
            <a:r>
              <a:t>Work Week: 10 weeks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Series Selection</a:t>
            </a:r>
          </a:p>
          <a:p>
            <a:pPr>
              <a:spcBef>
                <a:spcPts val="600"/>
              </a:spcBef>
              <a:defRPr sz="1600"/>
            </a:pPr>
            <a:r>
              <a:t>Y6CP_HMFN_192GB_7500MTPS</a:t>
            </a:r>
          </a:p>
          <a:p>
            <a:pPr>
              <a:spcBef>
                <a:spcPts val="600"/>
              </a:spcBef>
              <a:defRPr sz="1600"/>
            </a:pPr>
            <a:r>
              <a:t>Y6CP_SLT_192GB_7500MTPS</a:t>
            </a:r>
          </a:p>
          <a:p>
            <a:pPr>
              <a:spcBef>
                <a:spcPts val="600"/>
              </a:spcBef>
              <a:defRPr sz="1600"/>
            </a:pPr>
            <a:r>
              <a:t>Y6CP_ELC_192GB_7500MTPS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Result</a:t>
            </a:r>
          </a:p>
          <a:p>
            <a:pPr>
              <a:spcBef>
                <a:spcPts val="600"/>
              </a:spcBef>
              <a:defRPr sz="1600"/>
            </a:pPr>
            <a:r>
              <a:t>3 yield lines + 3 target lines</a:t>
            </a:r>
          </a:p>
          <a:p>
            <a:pPr>
              <a:spcBef>
                <a:spcPts val="600"/>
              </a:spcBef>
              <a:defRPr sz="1600"/>
            </a:pPr>
            <a:r>
              <a:t>Full gap analysis visible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87878"/>
                </a:solidFill>
              </a:defRPr>
            </a:pPr>
            <a:r>
              <a:t>[Screenshot: Complete example]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Tips &amp;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/>
            </a:pPr>
            <a:r>
              <a:t>1. Use SINGLE config (DID+Density+Speed) to enable targets</a:t>
            </a:r>
          </a:p>
          <a:p>
            <a:pPr>
              <a:spcBef>
                <a:spcPts val="1400"/>
              </a:spcBef>
              <a:defRPr sz="1800"/>
            </a:pPr>
            <a:r>
              <a:t>2. D1 is the active projection - use for current analysis</a:t>
            </a:r>
          </a:p>
          <a:p>
            <a:pPr>
              <a:spcBef>
                <a:spcPts val="1400"/>
              </a:spcBef>
              <a:defRPr sz="1800"/>
            </a:pPr>
            <a:r>
              <a:t>3. Enable '+ Future (8wk)' to see upcoming targets</a:t>
            </a:r>
          </a:p>
          <a:p>
            <a:pPr>
              <a:spcBef>
                <a:spcPts val="1400"/>
              </a:spcBef>
              <a:defRPr sz="1800"/>
            </a:pPr>
            <a:r>
              <a:t>4. Set Y-axis min to 90% for better visibility</a:t>
            </a:r>
          </a:p>
          <a:p>
            <a:pPr>
              <a:spcBef>
                <a:spcPts val="1400"/>
              </a:spcBef>
              <a:defRPr sz="1800"/>
            </a:pPr>
            <a:r>
              <a:t>5. Export charts via Plotly toolbar (camera icon)</a:t>
            </a:r>
          </a:p>
          <a:p>
            <a:pPr>
              <a:spcBef>
                <a:spcPts val="1400"/>
              </a:spcBef>
              <a:defRPr sz="1800"/>
            </a:pPr>
            <a:r>
              <a:t>6. For cross-config comparison, disable targets</a:t>
            </a:r>
          </a:p>
          <a:p>
            <a:pPr>
              <a:spcBef>
                <a:spcPts val="1400"/>
              </a:spcBef>
              <a:defRPr sz="1800"/>
            </a:pPr>
            <a:r>
              <a:t>7. Check Section 4 for target history and change 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Available Configs</a:t>
            </a:r>
          </a:p>
          <a:p>
            <a:pPr>
              <a:spcBef>
                <a:spcPts val="600"/>
              </a:spcBef>
              <a:defRPr sz="1600"/>
            </a:pPr>
            <a:r>
              <a:t>Y42M: 32GB/64GB/128GB (8533/6400)</a:t>
            </a:r>
          </a:p>
          <a:p>
            <a:pPr>
              <a:spcBef>
                <a:spcPts val="600"/>
              </a:spcBef>
              <a:defRPr sz="1600"/>
            </a:pPr>
            <a:r>
              <a:t>Y62P: 32GB/64GB/128GB (6400/7500/8533/9600)</a:t>
            </a:r>
          </a:p>
          <a:p>
            <a:pPr>
              <a:spcBef>
                <a:spcPts val="600"/>
              </a:spcBef>
              <a:defRPr sz="1600"/>
            </a:pPr>
            <a:r>
              <a:t>Y6CP: 48GB/96GB/192GB (7500/9600)</a:t>
            </a:r>
          </a:p>
          <a:p>
            <a:pPr>
              <a:spcBef>
                <a:spcPts val="600"/>
              </a:spcBef>
              <a:defRPr sz="1600"/>
            </a:pPr>
            <a:r>
              <a:t>Y63N: 64GB/128GB/256GB (7500/8533/9600)</a:t>
            </a:r>
          </a:p>
          <a:p>
            <a:pPr>
              <a:spcBef>
                <a:spcPts val="600"/>
              </a:spcBef>
              <a:defRPr sz="1600"/>
            </a:pPr>
            <a:r>
              <a:t>Y73P: 64GB/128GB/256GB (starts Apr'27)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D1 Targets (May'26+)</a:t>
            </a:r>
          </a:p>
          <a:p>
            <a:pPr>
              <a:spcBef>
                <a:spcPts val="600"/>
              </a:spcBef>
              <a:defRPr sz="1600"/>
            </a:pPr>
            <a:r>
              <a:t>HMFN: 99.5% most configs</a:t>
            </a:r>
          </a:p>
          <a:p>
            <a:pPr>
              <a:spcBef>
                <a:spcPts val="600"/>
              </a:spcBef>
              <a:defRPr sz="1600"/>
            </a:pPr>
            <a:r>
              <a:t>SLT: 97-99% varies by config</a:t>
            </a:r>
          </a:p>
          <a:p>
            <a:pPr>
              <a:spcBef>
                <a:spcPts val="600"/>
              </a:spcBef>
              <a:defRPr sz="1600"/>
            </a:pPr>
            <a:r>
              <a:t>ELC: 97-98.51% (HMFN x SLT)</a:t>
            </a:r>
          </a:p>
          <a:p>
            <a:pPr>
              <a:spcBef>
                <a:spcPts val="600"/>
              </a:spcBef>
              <a:defRPr sz="1600"/>
            </a:pPr>
          </a:p>
          <a:p>
            <a:pPr>
              <a:spcBef>
                <a:spcPts val="1400"/>
              </a:spcBef>
              <a:defRPr sz="1800" b="1">
                <a:solidFill>
                  <a:srgbClr val="3F51B5"/>
                </a:solidFill>
              </a:defRPr>
            </a:pPr>
            <a:r>
              <a:t>Dashboard: http://bolpedh03.micron.com:8502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