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Module ELC Yield Tab</a:t>
            </a:r>
          </a:p>
          <a:p>
            <a:pPr algn="ctr">
              <a:defRPr sz="2400">
                <a:solidFill>
                  <a:srgbClr val="C8C8C8"/>
                </a:solidFill>
              </a:defRPr>
            </a:pPr>
            <a:r>
              <a:t>Step-by-Step User Guide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What is the Module ELC Yield Tab?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323232"/>
                </a:solidFill>
              </a:defRPr>
            </a:pPr>
            <a:r>
              <a:t>📊 Purpose: Track weekly yield trends for HMFN, SLT, and ELC steps</a:t>
            </a:r>
          </a:p>
          <a:p>
            <a:pPr>
              <a:spcAft>
                <a:spcPts val="1200"/>
              </a:spcAft>
              <a:defRPr sz="1800">
                <a:solidFill>
                  <a:srgbClr val="323232"/>
                </a:solidFill>
              </a:defRPr>
            </a:pPr>
          </a:p>
          <a:p>
            <a:pPr>
              <a:spcAft>
                <a:spcPts val="1200"/>
              </a:spcAft>
              <a:defRPr sz="1800">
                <a:solidFill>
                  <a:srgbClr val="323232"/>
                </a:solidFill>
              </a:defRPr>
            </a:pPr>
            <a:r>
              <a:t>📈 Features:</a:t>
            </a:r>
          </a:p>
          <a:p>
            <a:pPr>
              <a:spcAft>
                <a:spcPts val="1200"/>
              </a:spcAft>
              <a:defRPr sz="1800">
                <a:solidFill>
                  <a:srgbClr val="323232"/>
                </a:solidFill>
              </a:defRPr>
            </a:pPr>
            <a:r>
              <a:t>   • Multi-series yield comparison across configs</a:t>
            </a:r>
          </a:p>
          <a:p>
            <a:pPr>
              <a:spcAft>
                <a:spcPts val="1200"/>
              </a:spcAft>
              <a:defRPr sz="1800">
                <a:solidFill>
                  <a:srgbClr val="323232"/>
                </a:solidFill>
              </a:defRPr>
            </a:pPr>
            <a:r>
              <a:t>   • D1 projection curves showing targets</a:t>
            </a:r>
          </a:p>
          <a:p>
            <a:pPr>
              <a:spcAft>
                <a:spcPts val="1200"/>
              </a:spcAft>
              <a:defRPr sz="1800">
                <a:solidFill>
                  <a:srgbClr val="323232"/>
                </a:solidFill>
              </a:defRPr>
            </a:pPr>
            <a:r>
              <a:t>   • HMFN × SLT = ELC calculation verification</a:t>
            </a:r>
          </a:p>
          <a:p>
            <a:pPr>
              <a:spcAft>
                <a:spcPts val="1200"/>
              </a:spcAft>
              <a:defRPr sz="1800">
                <a:solidFill>
                  <a:srgbClr val="323232"/>
                </a:solidFill>
              </a:defRPr>
            </a:pPr>
            <a:r>
              <a:t>   • 4-week rolling yield averages</a:t>
            </a:r>
          </a:p>
          <a:p>
            <a:pPr>
              <a:spcAft>
                <a:spcPts val="1200"/>
              </a:spcAft>
              <a:defRPr sz="1800">
                <a:solidFill>
                  <a:srgbClr val="323232"/>
                </a:solidFill>
              </a:defRPr>
            </a:pPr>
          </a:p>
          <a:p>
            <a:pPr>
              <a:spcAft>
                <a:spcPts val="1200"/>
              </a:spcAft>
              <a:defRPr sz="1800">
                <a:solidFill>
                  <a:srgbClr val="323232"/>
                </a:solidFill>
              </a:defRPr>
            </a:pPr>
            <a:r>
              <a:t>⚙️ Key Capability:</a:t>
            </a:r>
          </a:p>
          <a:p>
            <a:pPr>
              <a:spcAft>
                <a:spcPts val="1200"/>
              </a:spcAft>
              <a:defRPr sz="1800">
                <a:solidFill>
                  <a:srgbClr val="323232"/>
                </a:solidFill>
              </a:defRPr>
            </a:pPr>
            <a:r>
              <a:t>   Enable target projection lines to compare actual vs D1 targets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Step 1: Configure Sidebar Filters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323232"/>
                </a:solidFill>
              </a:defRPr>
            </a:pPr>
            <a:r>
              <a:t>1. Select Form Factor(s):</a:t>
            </a:r>
          </a:p>
          <a:p>
            <a:pPr>
              <a:spcAft>
                <a:spcPts val="1200"/>
              </a:spcAft>
              <a:defRPr sz="1800">
                <a:solidFill>
                  <a:srgbClr val="323232"/>
                </a:solidFill>
              </a:defRPr>
            </a:pPr>
            <a:r>
              <a:t>   SOCAMM or SOCAMM2</a:t>
            </a:r>
          </a:p>
          <a:p>
            <a:pPr>
              <a:spcAft>
                <a:spcPts val="1200"/>
              </a:spcAft>
              <a:defRPr sz="1800">
                <a:solidFill>
                  <a:srgbClr val="323232"/>
                </a:solidFill>
              </a:defRPr>
            </a:pPr>
          </a:p>
          <a:p>
            <a:pPr>
              <a:spcAft>
                <a:spcPts val="1200"/>
              </a:spcAft>
              <a:defRPr sz="1800">
                <a:solidFill>
                  <a:srgbClr val="323232"/>
                </a:solidFill>
              </a:defRPr>
            </a:pPr>
            <a:r>
              <a:t>2. Select Test Step(s):</a:t>
            </a:r>
          </a:p>
          <a:p>
            <a:pPr>
              <a:spcAft>
                <a:spcPts val="1200"/>
              </a:spcAft>
              <a:defRPr sz="1800">
                <a:solidFill>
                  <a:srgbClr val="323232"/>
                </a:solidFill>
              </a:defRPr>
            </a:pPr>
            <a:r>
              <a:t>   HMFN, HMB1, QMON</a:t>
            </a:r>
          </a:p>
          <a:p>
            <a:pPr>
              <a:spcAft>
                <a:spcPts val="1200"/>
              </a:spcAft>
              <a:defRPr sz="1800">
                <a:solidFill>
                  <a:srgbClr val="323232"/>
                </a:solidFill>
              </a:defRPr>
            </a:pPr>
          </a:p>
          <a:p>
            <a:pPr>
              <a:spcAft>
                <a:spcPts val="1200"/>
              </a:spcAft>
              <a:defRPr sz="1800">
                <a:solidFill>
                  <a:srgbClr val="323232"/>
                </a:solidFill>
              </a:defRPr>
            </a:pPr>
            <a:r>
              <a:t>3. Select Design ID(s):</a:t>
            </a:r>
          </a:p>
          <a:p>
            <a:pPr>
              <a:spcAft>
                <a:spcPts val="1200"/>
              </a:spcAft>
              <a:defRPr sz="1800">
                <a:solidFill>
                  <a:srgbClr val="323232"/>
                </a:solidFill>
              </a:defRPr>
            </a:pPr>
            <a:r>
              <a:t>   Y42M, Y62P, Y6CP, Y63N, Y73P</a:t>
            </a:r>
          </a:p>
          <a:p>
            <a:pPr>
              <a:spcAft>
                <a:spcPts val="1200"/>
              </a:spcAft>
              <a:defRPr sz="1800">
                <a:solidFill>
                  <a:srgbClr val="323232"/>
                </a:solidFill>
              </a:defRPr>
            </a:pPr>
          </a:p>
          <a:p>
            <a:pPr>
              <a:spcAft>
                <a:spcPts val="1200"/>
              </a:spcAft>
              <a:defRPr sz="1800">
                <a:solidFill>
                  <a:srgbClr val="323232"/>
                </a:solidFill>
              </a:defRPr>
            </a:pPr>
            <a:r>
              <a:t>4. Select Facility:</a:t>
            </a:r>
          </a:p>
          <a:p>
            <a:pPr>
              <a:spcAft>
                <a:spcPts val="1200"/>
              </a:spcAft>
              <a:defRPr sz="1800">
                <a:solidFill>
                  <a:srgbClr val="323232"/>
                </a:solidFill>
              </a:defRPr>
            </a:pPr>
            <a:r>
              <a:t>   PENANG, FAB10B, etc.</a:t>
            </a:r>
          </a:p>
          <a:p>
            <a:pPr>
              <a:spcAft>
                <a:spcPts val="1200"/>
              </a:spcAft>
              <a:defRPr sz="1800">
                <a:solidFill>
                  <a:srgbClr val="323232"/>
                </a:solidFill>
              </a:defRPr>
            </a:pPr>
          </a:p>
          <a:p>
            <a:pPr>
              <a:spcAft>
                <a:spcPts val="1200"/>
              </a:spcAft>
              <a:defRPr sz="1800">
                <a:solidFill>
                  <a:srgbClr val="323232"/>
                </a:solidFill>
              </a:defRPr>
            </a:pPr>
            <a:r>
              <a:t>5. Set Work Week Range:</a:t>
            </a:r>
          </a:p>
          <a:p>
            <a:pPr>
              <a:spcAft>
                <a:spcPts val="1200"/>
              </a:spcAft>
              <a:defRPr sz="1800">
                <a:solidFill>
                  <a:srgbClr val="323232"/>
                </a:solidFill>
              </a:defRPr>
            </a:pPr>
            <a:r>
              <a:t>   Year + Start/End weeks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0" y="1371600"/>
            <a:ext cx="5760720" cy="5029200"/>
          </a:xfrm>
          <a:prstGeom prst="roundRect">
            <a:avLst/>
          </a:prstGeom>
          <a:solidFill>
            <a:srgbClr val="F0F0F0"/>
          </a:solidFill>
          <a:ln>
            <a:solidFill>
              <a:srgbClr val="9696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0" y="1554480"/>
            <a:ext cx="5394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323232"/>
                </a:solidFill>
                <a:latin typeface="Courier New"/>
              </a:defRPr>
            </a:pPr>
            <a:r>
              <a:t>┌──────────────────────┐</a:t>
            </a:r>
            <a:br/>
            <a:r>
              <a:t>│  🎯 Module Yield     │</a:t>
            </a:r>
            <a:br/>
            <a:r>
              <a:t>│     Dashboard        │</a:t>
            </a:r>
            <a:br/>
            <a:r>
              <a:t>├──────────────────────┤</a:t>
            </a:r>
            <a:br/>
            <a:r>
              <a:t>│ Form Factor          │</a:t>
            </a:r>
            <a:br/>
            <a:r>
              <a:t>│ [■] SOCAMM           │</a:t>
            </a:r>
            <a:br/>
            <a:r>
              <a:t>│ [■] SOCAMM2          │</a:t>
            </a:r>
            <a:br/>
            <a:r>
              <a:t>├──────────────────────┤</a:t>
            </a:r>
            <a:br/>
            <a:r>
              <a:t>│ Test Step            │</a:t>
            </a:r>
            <a:br/>
            <a:r>
              <a:t>│ [■] HMFN             │</a:t>
            </a:r>
            <a:br/>
            <a:r>
              <a:t>│ [■] HMB1             │</a:t>
            </a:r>
            <a:br/>
            <a:r>
              <a:t>│ [■] QMON             │</a:t>
            </a:r>
            <a:br/>
            <a:r>
              <a:t>├──────────────────────┤</a:t>
            </a:r>
            <a:br/>
            <a:r>
              <a:t>│ Design ID            │</a:t>
            </a:r>
            <a:br/>
            <a:r>
              <a:t>│ [■] Y6CP             │</a:t>
            </a:r>
            <a:br/>
            <a:r>
              <a:t>├──────────────────────┤</a:t>
            </a:r>
            <a:br/>
            <a:r>
              <a:t>│ Facility             │</a:t>
            </a:r>
            <a:br/>
            <a:r>
              <a:t>│ [■] PENANG           │</a:t>
            </a:r>
            <a:br/>
            <a:r>
              <a:t>├──────────────────────┤</a:t>
            </a:r>
            <a:br/>
            <a:r>
              <a:t>│ Work Week: 2026      │</a:t>
            </a:r>
            <a:br/>
            <a:r>
              <a:t>│ Start: 06  End: 15   │</a:t>
            </a:r>
            <a:br/>
            <a:r>
              <a:t>└──────────────────────┘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Step 2: Navigate to Module ELC Yield Tab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323232"/>
                </a:solidFill>
              </a:defRPr>
            </a:pPr>
            <a:r>
              <a:t>After setting filters:</a:t>
            </a:r>
          </a:p>
          <a:p>
            <a:pPr>
              <a:spcAft>
                <a:spcPts val="1200"/>
              </a:spcAft>
              <a:defRPr sz="1800">
                <a:solidFill>
                  <a:srgbClr val="323232"/>
                </a:solidFill>
              </a:defRPr>
            </a:pPr>
          </a:p>
          <a:p>
            <a:pPr>
              <a:spcAft>
                <a:spcPts val="1200"/>
              </a:spcAft>
              <a:defRPr sz="1800">
                <a:solidFill>
                  <a:srgbClr val="323232"/>
                </a:solidFill>
              </a:defRPr>
            </a:pPr>
            <a:r>
              <a:t>1. Look at the main content area</a:t>
            </a:r>
          </a:p>
          <a:p>
            <a:pPr>
              <a:spcAft>
                <a:spcPts val="1200"/>
              </a:spcAft>
              <a:defRPr sz="1800">
                <a:solidFill>
                  <a:srgbClr val="323232"/>
                </a:solidFill>
              </a:defRPr>
            </a:pPr>
          </a:p>
          <a:p>
            <a:pPr>
              <a:spcAft>
                <a:spcPts val="1200"/>
              </a:spcAft>
              <a:defRPr sz="1800">
                <a:solidFill>
                  <a:srgbClr val="323232"/>
                </a:solidFill>
              </a:defRPr>
            </a:pPr>
            <a:r>
              <a:t>2. Find the tab bar at the top</a:t>
            </a:r>
          </a:p>
          <a:p>
            <a:pPr>
              <a:spcAft>
                <a:spcPts val="1200"/>
              </a:spcAft>
              <a:defRPr sz="1800">
                <a:solidFill>
                  <a:srgbClr val="323232"/>
                </a:solidFill>
              </a:defRPr>
            </a:pPr>
          </a:p>
          <a:p>
            <a:pPr>
              <a:spcAft>
                <a:spcPts val="1200"/>
              </a:spcAft>
              <a:defRPr sz="1800">
                <a:solidFill>
                  <a:srgbClr val="323232"/>
                </a:solidFill>
              </a:defRPr>
            </a:pPr>
            <a:r>
              <a:t>3. Click on 'Module ELC Yield' tab</a:t>
            </a:r>
          </a:p>
          <a:p>
            <a:pPr>
              <a:spcAft>
                <a:spcPts val="1200"/>
              </a:spcAft>
              <a:defRPr sz="1800">
                <a:solidFill>
                  <a:srgbClr val="323232"/>
                </a:solidFill>
              </a:defRPr>
            </a:pPr>
          </a:p>
          <a:p>
            <a:pPr>
              <a:spcAft>
                <a:spcPts val="1200"/>
              </a:spcAft>
              <a:defRPr sz="1800">
                <a:solidFill>
                  <a:srgbClr val="323232"/>
                </a:solidFill>
              </a:defRPr>
            </a:pPr>
            <a:r>
              <a:t>4. The tab will load yield data</a:t>
            </a:r>
          </a:p>
          <a:p>
            <a:pPr>
              <a:spcAft>
                <a:spcPts val="1200"/>
              </a:spcAft>
              <a:defRPr sz="1800">
                <a:solidFill>
                  <a:srgbClr val="323232"/>
                </a:solidFill>
              </a:defRPr>
            </a:pPr>
            <a:r>
              <a:t>   based on your filter selections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0" y="1371600"/>
            <a:ext cx="5760720" cy="5029200"/>
          </a:xfrm>
          <a:prstGeom prst="roundRect">
            <a:avLst/>
          </a:prstGeom>
          <a:solidFill>
            <a:srgbClr val="F0F0F0"/>
          </a:solidFill>
          <a:ln>
            <a:solidFill>
              <a:srgbClr val="9696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0" y="1554480"/>
            <a:ext cx="5394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323232"/>
                </a:solidFill>
                <a:latin typeface="Courier New"/>
              </a:defRPr>
            </a:pPr>
            <a:r>
              <a:t>┌─────────────────────────────────────────────────┐</a:t>
            </a:r>
            <a:br/>
            <a:r>
              <a:t>│                                                 │</a:t>
            </a:r>
            <a:br/>
            <a:r>
              <a:t>│  ┌───────────┐ ┌──────────────┐ ┌────────────┐ │</a:t>
            </a:r>
            <a:br/>
            <a:r>
              <a:t>│  │ Yield     │ │ Module ELC   │ │ Pareto     │ │</a:t>
            </a:r>
            <a:br/>
            <a:r>
              <a:t>│  │ Analysis  │ │ Yield  ←←←←  │ │ Analysis   │ │</a:t>
            </a:r>
            <a:br/>
            <a:r>
              <a:t>│  └───────────┘ └──────────────┘ └────────────┘ │</a:t>
            </a:r>
            <a:br/>
            <a:r>
              <a:t>│                                                 │</a:t>
            </a:r>
            <a:br/>
            <a:r>
              <a:t>│  ┌────────────┐ ┌──────────────────┐           │</a:t>
            </a:r>
            <a:br/>
            <a:r>
              <a:t>│  │ Fail       │ │ Machine Trend    │           │</a:t>
            </a:r>
            <a:br/>
            <a:r>
              <a:t>│  │ Viewer     │ │ Analysis         │           │</a:t>
            </a:r>
            <a:br/>
            <a:r>
              <a:t>│  └────────────┘ └──────────────────┘           │</a:t>
            </a:r>
            <a:br/>
            <a:r>
              <a:t>│                                                 │</a:t>
            </a:r>
            <a:br/>
            <a:r>
              <a:t>│         Click "Module ELC Yield" tab           │</a:t>
            </a:r>
            <a:br/>
            <a:r>
              <a:t>│                                                 │</a:t>
            </a:r>
            <a:br/>
            <a:r>
              <a:t>└─────────────────────────────────────────────────┘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Step 3: Select Series to Plot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323232"/>
                </a:solidFill>
              </a:defRPr>
            </a:pPr>
            <a:r>
              <a:t>The series selector shows all</a:t>
            </a:r>
          </a:p>
          <a:p>
            <a:pPr>
              <a:spcAft>
                <a:spcPts val="1200"/>
              </a:spcAft>
              <a:defRPr sz="1800">
                <a:solidFill>
                  <a:srgbClr val="323232"/>
                </a:solidFill>
              </a:defRPr>
            </a:pPr>
            <a:r>
              <a:t>available configurations:</a:t>
            </a:r>
          </a:p>
          <a:p>
            <a:pPr>
              <a:spcAft>
                <a:spcPts val="1200"/>
              </a:spcAft>
              <a:defRPr sz="1800">
                <a:solidFill>
                  <a:srgbClr val="323232"/>
                </a:solidFill>
              </a:defRPr>
            </a:pPr>
          </a:p>
          <a:p>
            <a:pPr>
              <a:spcAft>
                <a:spcPts val="1200"/>
              </a:spcAft>
              <a:defRPr sz="1800">
                <a:solidFill>
                  <a:srgbClr val="323232"/>
                </a:solidFill>
              </a:defRPr>
            </a:pPr>
            <a:r>
              <a:t>Format: DID_FormFactor_Density_Speed_Step</a:t>
            </a:r>
          </a:p>
          <a:p>
            <a:pPr>
              <a:spcAft>
                <a:spcPts val="1200"/>
              </a:spcAft>
              <a:defRPr sz="1800">
                <a:solidFill>
                  <a:srgbClr val="323232"/>
                </a:solidFill>
              </a:defRPr>
            </a:pPr>
          </a:p>
          <a:p>
            <a:pPr>
              <a:spcAft>
                <a:spcPts val="1200"/>
              </a:spcAft>
              <a:defRPr sz="1800">
                <a:solidFill>
                  <a:srgbClr val="323232"/>
                </a:solidFill>
              </a:defRPr>
            </a:pPr>
            <a:r>
              <a:t>💡 TIP: For target lines, select</a:t>
            </a:r>
          </a:p>
          <a:p>
            <a:pPr>
              <a:spcAft>
                <a:spcPts val="1200"/>
              </a:spcAft>
              <a:defRPr sz="1800">
                <a:solidFill>
                  <a:srgbClr val="323232"/>
                </a:solidFill>
              </a:defRPr>
            </a:pPr>
            <a:r>
              <a:t>   series with SAME:</a:t>
            </a:r>
          </a:p>
          <a:p>
            <a:pPr>
              <a:spcAft>
                <a:spcPts val="1200"/>
              </a:spcAft>
              <a:defRPr sz="1800">
                <a:solidFill>
                  <a:srgbClr val="323232"/>
                </a:solidFill>
              </a:defRPr>
            </a:pPr>
            <a:r>
              <a:t>   • Design ID (e.g., Y6CP)</a:t>
            </a:r>
          </a:p>
          <a:p>
            <a:pPr>
              <a:spcAft>
                <a:spcPts val="1200"/>
              </a:spcAft>
              <a:defRPr sz="1800">
                <a:solidFill>
                  <a:srgbClr val="323232"/>
                </a:solidFill>
              </a:defRPr>
            </a:pPr>
            <a:r>
              <a:t>   • Density (e.g., 192GB)</a:t>
            </a:r>
          </a:p>
          <a:p>
            <a:pPr>
              <a:spcAft>
                <a:spcPts val="1200"/>
              </a:spcAft>
              <a:defRPr sz="1800">
                <a:solidFill>
                  <a:srgbClr val="323232"/>
                </a:solidFill>
              </a:defRPr>
            </a:pPr>
            <a:r>
              <a:t>   • Speed (e.g., 7500MTPS)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0" y="1371600"/>
            <a:ext cx="5760720" cy="5029200"/>
          </a:xfrm>
          <a:prstGeom prst="roundRect">
            <a:avLst/>
          </a:prstGeom>
          <a:solidFill>
            <a:srgbClr val="F0F0F0"/>
          </a:solidFill>
          <a:ln>
            <a:solidFill>
              <a:srgbClr val="9696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0" y="1554480"/>
            <a:ext cx="5394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323232"/>
                </a:solidFill>
                <a:latin typeface="Courier New"/>
              </a:defRPr>
            </a:pPr>
            <a:r>
              <a:t>┌─────────────────────────────────────────────────┐</a:t>
            </a:r>
            <a:br/>
            <a:r>
              <a:t>│  📈 Select Series to Plot                       │</a:t>
            </a:r>
            <a:br/>
            <a:r>
              <a:t>├─────────────────────────────────────────────────┤</a:t>
            </a:r>
            <a:br/>
            <a:r>
              <a:t>│                                                 │</a:t>
            </a:r>
            <a:br/>
            <a:r>
              <a:t>│  ☑ Y6CP_SOCAMM2_192GB_7500MTPS_HMFN            │</a:t>
            </a:r>
            <a:br/>
            <a:r>
              <a:t>│  ☑ Y6CP_SOCAMM2_192GB_7500MTPS_SLT             │</a:t>
            </a:r>
            <a:br/>
            <a:r>
              <a:t>│  ☑ Y6CP_SOCAMM2_192GB_7500MTPS_ELC             │</a:t>
            </a:r>
            <a:br/>
            <a:r>
              <a:t>│                                                 │</a:t>
            </a:r>
            <a:br/>
            <a:r>
              <a:t>│  ☐ Y6CP_SOCAMM2_96GB_9600MTPS_HMFN             │</a:t>
            </a:r>
            <a:br/>
            <a:r>
              <a:t>│  ☐ Y6CP_SOCAMM2_96GB_9600MTPS_SLT              │</a:t>
            </a:r>
            <a:br/>
            <a:r>
              <a:t>│  ☐ Y6CP_SOCAMM2_96GB_9600MTPS_ELC              │</a:t>
            </a:r>
            <a:br/>
            <a:r>
              <a:t>│                                                 │</a:t>
            </a:r>
            <a:br/>
            <a:r>
              <a:t>│  ☐ Y62P_SOCAMM2_64GB_8533MTPS_HMFN             │</a:t>
            </a:r>
            <a:br/>
            <a:r>
              <a:t>│  ☐ Y62P_SOCAMM2_64GB_8533MTPS_SLT              │</a:t>
            </a:r>
            <a:br/>
            <a:r>
              <a:t>│  ☐ Y62P_SOCAMM2_64GB_8533MTPS_ELC              │</a:t>
            </a:r>
            <a:br/>
            <a:r>
              <a:t>│                                                 │</a:t>
            </a:r>
            <a:br/>
            <a:r>
              <a:t>│  [Select All] [Clear All]                       │</a:t>
            </a:r>
            <a:br/>
            <a:r>
              <a:t>└─────────────────────────────────────────────────┘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Step 4: Enable D1 Target Lines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323232"/>
                </a:solidFill>
              </a:defRPr>
            </a:pPr>
            <a:r>
              <a:t>To show projection targets:</a:t>
            </a:r>
          </a:p>
          <a:p>
            <a:pPr>
              <a:spcAft>
                <a:spcPts val="1200"/>
              </a:spcAft>
              <a:defRPr sz="1800">
                <a:solidFill>
                  <a:srgbClr val="323232"/>
                </a:solidFill>
              </a:defRPr>
            </a:pPr>
          </a:p>
          <a:p>
            <a:pPr>
              <a:spcAft>
                <a:spcPts val="1200"/>
              </a:spcAft>
              <a:defRPr sz="1800">
                <a:solidFill>
                  <a:srgbClr val="323232"/>
                </a:solidFill>
              </a:defRPr>
            </a:pPr>
            <a:r>
              <a:t>1. Find 'Show D1 Target Lines'</a:t>
            </a:r>
          </a:p>
          <a:p>
            <a:pPr>
              <a:spcAft>
                <a:spcPts val="1200"/>
              </a:spcAft>
              <a:defRPr sz="1800">
                <a:solidFill>
                  <a:srgbClr val="323232"/>
                </a:solidFill>
              </a:defRPr>
            </a:pPr>
            <a:r>
              <a:t>   checkbox in the controls</a:t>
            </a:r>
          </a:p>
          <a:p>
            <a:pPr>
              <a:spcAft>
                <a:spcPts val="1200"/>
              </a:spcAft>
              <a:defRPr sz="1800">
                <a:solidFill>
                  <a:srgbClr val="323232"/>
                </a:solidFill>
              </a:defRPr>
            </a:pPr>
          </a:p>
          <a:p>
            <a:pPr>
              <a:spcAft>
                <a:spcPts val="1200"/>
              </a:spcAft>
              <a:defRPr sz="1800">
                <a:solidFill>
                  <a:srgbClr val="323232"/>
                </a:solidFill>
              </a:defRPr>
            </a:pPr>
            <a:r>
              <a:t>2. Check the box to enable</a:t>
            </a:r>
          </a:p>
          <a:p>
            <a:pPr>
              <a:spcAft>
                <a:spcPts val="1200"/>
              </a:spcAft>
              <a:defRPr sz="1800">
                <a:solidFill>
                  <a:srgbClr val="323232"/>
                </a:solidFill>
              </a:defRPr>
            </a:pPr>
          </a:p>
          <a:p>
            <a:pPr>
              <a:spcAft>
                <a:spcPts val="1200"/>
              </a:spcAft>
              <a:defRPr sz="1800">
                <a:solidFill>
                  <a:srgbClr val="323232"/>
                </a:solidFill>
              </a:defRPr>
            </a:pPr>
            <a:r>
              <a:t>3. Target lines appear on chart:</a:t>
            </a:r>
          </a:p>
          <a:p>
            <a:pPr>
              <a:spcAft>
                <a:spcPts val="1200"/>
              </a:spcAft>
              <a:defRPr sz="1800">
                <a:solidFill>
                  <a:srgbClr val="323232"/>
                </a:solidFill>
              </a:defRPr>
            </a:pPr>
            <a:r>
              <a:t>   • Blue dotted = HMFN target</a:t>
            </a:r>
          </a:p>
          <a:p>
            <a:pPr>
              <a:spcAft>
                <a:spcPts val="1200"/>
              </a:spcAft>
              <a:defRPr sz="1800">
                <a:solidFill>
                  <a:srgbClr val="323232"/>
                </a:solidFill>
              </a:defRPr>
            </a:pPr>
            <a:r>
              <a:t>   • Red dotted = SLT target</a:t>
            </a:r>
          </a:p>
          <a:p>
            <a:pPr>
              <a:spcAft>
                <a:spcPts val="1200"/>
              </a:spcAft>
              <a:defRPr sz="1800">
                <a:solidFill>
                  <a:srgbClr val="323232"/>
                </a:solidFill>
              </a:defRPr>
            </a:pPr>
            <a:r>
              <a:t>   • Green dotted = ELC target</a:t>
            </a:r>
          </a:p>
          <a:p>
            <a:pPr>
              <a:spcAft>
                <a:spcPts val="1200"/>
              </a:spcAft>
              <a:defRPr sz="1800">
                <a:solidFill>
                  <a:srgbClr val="323232"/>
                </a:solidFill>
              </a:defRPr>
            </a:pPr>
          </a:p>
          <a:p>
            <a:pPr>
              <a:spcAft>
                <a:spcPts val="1200"/>
              </a:spcAft>
              <a:defRPr sz="1800">
                <a:solidFill>
                  <a:srgbClr val="323232"/>
                </a:solidFill>
              </a:defRPr>
            </a:pPr>
            <a:r>
              <a:t>⚠️ If checkbox doesn't work:</a:t>
            </a:r>
          </a:p>
          <a:p>
            <a:pPr>
              <a:spcAft>
                <a:spcPts val="1200"/>
              </a:spcAft>
              <a:defRPr sz="1800">
                <a:solidFill>
                  <a:srgbClr val="323232"/>
                </a:solidFill>
              </a:defRPr>
            </a:pPr>
            <a:r>
              <a:t>   Select single config (same DID+Density+Speed)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0" y="1371600"/>
            <a:ext cx="5760720" cy="5029200"/>
          </a:xfrm>
          <a:prstGeom prst="roundRect">
            <a:avLst/>
          </a:prstGeom>
          <a:solidFill>
            <a:srgbClr val="F0F0F0"/>
          </a:solidFill>
          <a:ln>
            <a:solidFill>
              <a:srgbClr val="9696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0" y="1554480"/>
            <a:ext cx="5394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323232"/>
                </a:solidFill>
                <a:latin typeface="Courier New"/>
              </a:defRPr>
            </a:pPr>
            <a:r>
              <a:t>┌─────────────────────────────────────────────────┐</a:t>
            </a:r>
            <a:br/>
            <a:r>
              <a:t>│  🎯 Target Line Controls                        │</a:t>
            </a:r>
            <a:br/>
            <a:r>
              <a:t>├─────────────────────────────────────────────────┤</a:t>
            </a:r>
            <a:br/>
            <a:r>
              <a:t>│                                                 │</a:t>
            </a:r>
            <a:br/>
            <a:r>
              <a:t>│  [✓] Show D1 Target Lines                       │</a:t>
            </a:r>
            <a:br/>
            <a:r>
              <a:t>│                                                 │</a:t>
            </a:r>
            <a:br/>
            <a:r>
              <a:t>│  When enabled, shows:                           │</a:t>
            </a:r>
            <a:br/>
            <a:r>
              <a:t>│  ┄┄┄┄ HMFN Target (Blue dotted)                │</a:t>
            </a:r>
            <a:br/>
            <a:r>
              <a:t>│  ┄┄┄┄ SLT Target  (Red dotted)                 │</a:t>
            </a:r>
            <a:br/>
            <a:r>
              <a:t>│  ┄┄┄┄ ELC Target  (Green dotted)               │</a:t>
            </a:r>
            <a:br/>
            <a:r>
              <a:t>│                                                 │</a:t>
            </a:r>
            <a:br/>
            <a:r>
              <a:t>├─────────────────────────────────────────────────┤</a:t>
            </a:r>
            <a:br/>
            <a:r>
              <a:t>│  ⚠️ Requirement:                                │</a:t>
            </a:r>
            <a:br/>
            <a:r>
              <a:t>│                                                 │</a:t>
            </a:r>
            <a:br/>
            <a:r>
              <a:t>│  Targets only show when ALL selected            │</a:t>
            </a:r>
            <a:br/>
            <a:r>
              <a:t>│  series share the SAME:                         │</a:t>
            </a:r>
            <a:br/>
            <a:r>
              <a:t>│  • Design ID                                    │</a:t>
            </a:r>
            <a:br/>
            <a:r>
              <a:t>│  • Density                                      │</a:t>
            </a:r>
            <a:br/>
            <a:r>
              <a:t>│  • Speed                                        │</a:t>
            </a:r>
            <a:br/>
            <a:r>
              <a:t>└─────────────────────────────────────────────────┘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Step 5: Interpreting the Chart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323232"/>
                </a:solidFill>
              </a:defRPr>
            </a:pPr>
            <a:r>
              <a:t>The chart shows:</a:t>
            </a:r>
          </a:p>
          <a:p>
            <a:pPr>
              <a:spcAft>
                <a:spcPts val="1200"/>
              </a:spcAft>
              <a:defRPr sz="1800">
                <a:solidFill>
                  <a:srgbClr val="323232"/>
                </a:solidFill>
              </a:defRPr>
            </a:pPr>
          </a:p>
          <a:p>
            <a:pPr>
              <a:spcAft>
                <a:spcPts val="1200"/>
              </a:spcAft>
              <a:defRPr sz="1800">
                <a:solidFill>
                  <a:srgbClr val="323232"/>
                </a:solidFill>
              </a:defRPr>
            </a:pPr>
            <a:r>
              <a:t>Solid lines = Actual yield</a:t>
            </a:r>
          </a:p>
          <a:p>
            <a:pPr>
              <a:spcAft>
                <a:spcPts val="1200"/>
              </a:spcAft>
              <a:defRPr sz="1800">
                <a:solidFill>
                  <a:srgbClr val="323232"/>
                </a:solidFill>
              </a:defRPr>
            </a:pPr>
            <a:r>
              <a:t>Dotted lines = D1 targets</a:t>
            </a:r>
          </a:p>
          <a:p>
            <a:pPr>
              <a:spcAft>
                <a:spcPts val="1200"/>
              </a:spcAft>
              <a:defRPr sz="1800">
                <a:solidFill>
                  <a:srgbClr val="323232"/>
                </a:solidFill>
              </a:defRPr>
            </a:pPr>
          </a:p>
          <a:p>
            <a:pPr>
              <a:spcAft>
                <a:spcPts val="1200"/>
              </a:spcAft>
              <a:defRPr sz="1800">
                <a:solidFill>
                  <a:srgbClr val="323232"/>
                </a:solidFill>
              </a:defRPr>
            </a:pPr>
            <a:r>
              <a:t>Color coding:</a:t>
            </a:r>
          </a:p>
          <a:p>
            <a:pPr>
              <a:spcAft>
                <a:spcPts val="1200"/>
              </a:spcAft>
              <a:defRPr sz="1800">
                <a:solidFill>
                  <a:srgbClr val="323232"/>
                </a:solidFill>
              </a:defRPr>
            </a:pPr>
            <a:r>
              <a:t>• Blue = HMFN step</a:t>
            </a:r>
          </a:p>
          <a:p>
            <a:pPr>
              <a:spcAft>
                <a:spcPts val="1200"/>
              </a:spcAft>
              <a:defRPr sz="1800">
                <a:solidFill>
                  <a:srgbClr val="323232"/>
                </a:solidFill>
              </a:defRPr>
            </a:pPr>
            <a:r>
              <a:t>• Red = SLT step (HMB1 × QMON)</a:t>
            </a:r>
          </a:p>
          <a:p>
            <a:pPr>
              <a:spcAft>
                <a:spcPts val="1200"/>
              </a:spcAft>
              <a:defRPr sz="1800">
                <a:solidFill>
                  <a:srgbClr val="323232"/>
                </a:solidFill>
              </a:defRPr>
            </a:pPr>
            <a:r>
              <a:t>• Green = ELC (HMFN × SLT)</a:t>
            </a:r>
          </a:p>
          <a:p>
            <a:pPr>
              <a:spcAft>
                <a:spcPts val="1200"/>
              </a:spcAft>
              <a:defRPr sz="1800">
                <a:solidFill>
                  <a:srgbClr val="323232"/>
                </a:solidFill>
              </a:defRPr>
            </a:pPr>
          </a:p>
          <a:p>
            <a:pPr>
              <a:spcAft>
                <a:spcPts val="1200"/>
              </a:spcAft>
              <a:defRPr sz="1800">
                <a:solidFill>
                  <a:srgbClr val="323232"/>
                </a:solidFill>
              </a:defRPr>
            </a:pPr>
            <a:r>
              <a:t>Compare actual vs target:</a:t>
            </a:r>
          </a:p>
          <a:p>
            <a:pPr>
              <a:spcAft>
                <a:spcPts val="1200"/>
              </a:spcAft>
              <a:defRPr sz="1800">
                <a:solidFill>
                  <a:srgbClr val="323232"/>
                </a:solidFill>
              </a:defRPr>
            </a:pPr>
            <a:r>
              <a:t>• Above target = Good ✓</a:t>
            </a:r>
          </a:p>
          <a:p>
            <a:pPr>
              <a:spcAft>
                <a:spcPts val="1200"/>
              </a:spcAft>
              <a:defRPr sz="1800">
                <a:solidFill>
                  <a:srgbClr val="323232"/>
                </a:solidFill>
              </a:defRPr>
            </a:pPr>
            <a:r>
              <a:t>• Below target = Action needed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0" y="1371600"/>
            <a:ext cx="5760720" cy="5029200"/>
          </a:xfrm>
          <a:prstGeom prst="roundRect">
            <a:avLst/>
          </a:prstGeom>
          <a:solidFill>
            <a:srgbClr val="F0F0F0"/>
          </a:solidFill>
          <a:ln>
            <a:solidFill>
              <a:srgbClr val="9696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0" y="1554480"/>
            <a:ext cx="5394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323232"/>
                </a:solidFill>
                <a:latin typeface="Courier New"/>
              </a:defRPr>
            </a:pPr>
            <a:r>
              <a:t>  100% ┬─────────────────────────────────────────┐</a:t>
            </a:r>
            <a:br/>
            <a:r>
              <a:t>       │  ┄┄┄┄┄┄┄┄┄┄┄┄┄┄┄┄┄┄┄┄┄┄┄┄ HMFN Target  │</a:t>
            </a:r>
            <a:br/>
            <a:r>
              <a:t>   99% │ ╭──────╮                    (99%)        │</a:t>
            </a:r>
            <a:br/>
            <a:r>
              <a:t>       │╱        ╲    HMFN Actual                 │</a:t>
            </a:r>
            <a:br/>
            <a:r>
              <a:t>   98% │          ╲ ╱ ╲ ╱ ╲                       │</a:t>
            </a:r>
            <a:br/>
            <a:r>
              <a:t>       │           ╳   ╳   ╲────                  │</a:t>
            </a:r>
            <a:br/>
            <a:r>
              <a:t>   97% │  ┄┄┄┄┄┄┄┄┄┄┄┄┄┄┄┄┄┄┄┄┄┄ SLT Target      │</a:t>
            </a:r>
            <a:br/>
            <a:r>
              <a:t>       │    ╭────╮                  (97%)         │</a:t>
            </a:r>
            <a:br/>
            <a:r>
              <a:t>   96% │   ╱      ╲    SLT Actual                 │</a:t>
            </a:r>
            <a:br/>
            <a:r>
              <a:t>       │  ╱        ╲ ╱ ╲ ╱ ╲                      │</a:t>
            </a:r>
            <a:br/>
            <a:r>
              <a:t>   95% │ ╱  ┄┄┄┄┄┄┄┄┄┄┄┄┄┄┄┄┄┄┄┄ ELC Target      │</a:t>
            </a:r>
            <a:br/>
            <a:r>
              <a:t>       │╱            ╲╱           (95.54%)        │</a:t>
            </a:r>
            <a:br/>
            <a:r>
              <a:t>   94% │       ELC Actual                         │</a:t>
            </a:r>
            <a:br/>
            <a:r>
              <a:t>       └───┴───┴───┴───┴───┴───┴───┴───┴───┴───┘</a:t>
            </a:r>
            <a:br/>
            <a:r>
              <a:t>        WW06 WW07 WW08 WW09 WW10 WW11 WW12 WW13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Understanding the Warning Message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323232"/>
                </a:solidFill>
              </a:defRPr>
            </a:pPr>
            <a:r>
              <a:t>If you see this warning:</a:t>
            </a:r>
          </a:p>
          <a:p>
            <a:pPr>
              <a:spcAft>
                <a:spcPts val="1200"/>
              </a:spcAft>
              <a:defRPr sz="1800">
                <a:solidFill>
                  <a:srgbClr val="323232"/>
                </a:solidFill>
              </a:defRPr>
            </a:pPr>
          </a:p>
          <a:p>
            <a:pPr>
              <a:spcAft>
                <a:spcPts val="1200"/>
              </a:spcAft>
              <a:defRPr sz="1800">
                <a:solidFill>
                  <a:srgbClr val="323232"/>
                </a:solidFill>
              </a:defRPr>
            </a:pPr>
            <a:r>
              <a:t>⚠️ 'Targets require single config'</a:t>
            </a:r>
          </a:p>
          <a:p>
            <a:pPr>
              <a:spcAft>
                <a:spcPts val="1200"/>
              </a:spcAft>
              <a:defRPr sz="1800">
                <a:solidFill>
                  <a:srgbClr val="323232"/>
                </a:solidFill>
              </a:defRPr>
            </a:pPr>
          </a:p>
          <a:p>
            <a:pPr>
              <a:spcAft>
                <a:spcPts val="1200"/>
              </a:spcAft>
              <a:defRPr sz="1800">
                <a:solidFill>
                  <a:srgbClr val="323232"/>
                </a:solidFill>
              </a:defRPr>
            </a:pPr>
            <a:r>
              <a:t>It means you selected series</a:t>
            </a:r>
          </a:p>
          <a:p>
            <a:pPr>
              <a:spcAft>
                <a:spcPts val="1200"/>
              </a:spcAft>
              <a:defRPr sz="1800">
                <a:solidFill>
                  <a:srgbClr val="323232"/>
                </a:solidFill>
              </a:defRPr>
            </a:pPr>
            <a:r>
              <a:t>with DIFFERENT configurations.</a:t>
            </a:r>
          </a:p>
          <a:p>
            <a:pPr>
              <a:spcAft>
                <a:spcPts val="1200"/>
              </a:spcAft>
              <a:defRPr sz="1800">
                <a:solidFill>
                  <a:srgbClr val="323232"/>
                </a:solidFill>
              </a:defRPr>
            </a:pPr>
          </a:p>
          <a:p>
            <a:pPr>
              <a:spcAft>
                <a:spcPts val="1200"/>
              </a:spcAft>
              <a:defRPr sz="1800">
                <a:solidFill>
                  <a:srgbClr val="323232"/>
                </a:solidFill>
              </a:defRPr>
            </a:pPr>
            <a:r>
              <a:t>To fix:</a:t>
            </a:r>
          </a:p>
          <a:p>
            <a:pPr>
              <a:spcAft>
                <a:spcPts val="1200"/>
              </a:spcAft>
              <a:defRPr sz="1800">
                <a:solidFill>
                  <a:srgbClr val="323232"/>
                </a:solidFill>
              </a:defRPr>
            </a:pPr>
            <a:r>
              <a:t>1. Go back to series selector</a:t>
            </a:r>
          </a:p>
          <a:p>
            <a:pPr>
              <a:spcAft>
                <a:spcPts val="1200"/>
              </a:spcAft>
              <a:defRPr sz="1800">
                <a:solidFill>
                  <a:srgbClr val="323232"/>
                </a:solidFill>
              </a:defRPr>
            </a:pPr>
            <a:r>
              <a:t>2. Uncheck mismatched series</a:t>
            </a:r>
          </a:p>
          <a:p>
            <a:pPr>
              <a:spcAft>
                <a:spcPts val="1200"/>
              </a:spcAft>
              <a:defRPr sz="1800">
                <a:solidFill>
                  <a:srgbClr val="323232"/>
                </a:solidFill>
              </a:defRPr>
            </a:pPr>
            <a:r>
              <a:t>3. Keep only series with same:</a:t>
            </a:r>
          </a:p>
          <a:p>
            <a:pPr>
              <a:spcAft>
                <a:spcPts val="1200"/>
              </a:spcAft>
              <a:defRPr sz="1800">
                <a:solidFill>
                  <a:srgbClr val="323232"/>
                </a:solidFill>
              </a:defRPr>
            </a:pPr>
            <a:r>
              <a:t>   • Design ID</a:t>
            </a:r>
          </a:p>
          <a:p>
            <a:pPr>
              <a:spcAft>
                <a:spcPts val="1200"/>
              </a:spcAft>
              <a:defRPr sz="1800">
                <a:solidFill>
                  <a:srgbClr val="323232"/>
                </a:solidFill>
              </a:defRPr>
            </a:pPr>
            <a:r>
              <a:t>   • Density</a:t>
            </a:r>
          </a:p>
          <a:p>
            <a:pPr>
              <a:spcAft>
                <a:spcPts val="1200"/>
              </a:spcAft>
              <a:defRPr sz="1800">
                <a:solidFill>
                  <a:srgbClr val="323232"/>
                </a:solidFill>
              </a:defRPr>
            </a:pPr>
            <a:r>
              <a:t>   • Speed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0" y="1371600"/>
            <a:ext cx="5760720" cy="5029200"/>
          </a:xfrm>
          <a:prstGeom prst="roundRect">
            <a:avLst/>
          </a:prstGeom>
          <a:solidFill>
            <a:srgbClr val="F0F0F0"/>
          </a:solidFill>
          <a:ln>
            <a:solidFill>
              <a:srgbClr val="9696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0" y="1554480"/>
            <a:ext cx="5394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323232"/>
                </a:solidFill>
                <a:latin typeface="Courier New"/>
              </a:defRPr>
            </a:pPr>
            <a:r>
              <a:t>┌─────────────────────────────────────────────────┐</a:t>
            </a:r>
            <a:br/>
            <a:r>
              <a:t>│                                                 │</a:t>
            </a:r>
            <a:br/>
            <a:r>
              <a:t>│  ⚠️ WARNING                                     │</a:t>
            </a:r>
            <a:br/>
            <a:r>
              <a:t>│  ─────────────────────────────────────────────  │</a:t>
            </a:r>
            <a:br/>
            <a:r>
              <a:t>│                                                 │</a:t>
            </a:r>
            <a:br/>
            <a:r>
              <a:t>│  Targets require single config.                 │</a:t>
            </a:r>
            <a:br/>
            <a:r>
              <a:t>│                                                 │</a:t>
            </a:r>
            <a:br/>
            <a:r>
              <a:t>│  Select series with same                        │</a:t>
            </a:r>
            <a:br/>
            <a:r>
              <a:t>│  DID + Density + Speed to show                  │</a:t>
            </a:r>
            <a:br/>
            <a:r>
              <a:t>│  target lines.                                  │</a:t>
            </a:r>
            <a:br/>
            <a:r>
              <a:t>│                                                 │</a:t>
            </a:r>
            <a:br/>
            <a:r>
              <a:t>│  Currently selected:                            │</a:t>
            </a:r>
            <a:br/>
            <a:r>
              <a:t>│  • Y6CP_192GB_7500MTPS ← ✓ Same                │</a:t>
            </a:r>
            <a:br/>
            <a:r>
              <a:t>│  • Y62P_64GB_9600MTPS  ← ✗ Different           │</a:t>
            </a:r>
            <a:br/>
            <a:r>
              <a:t>│                                                 │</a:t>
            </a:r>
            <a:br/>
            <a:r>
              <a:t>│  Remove mismatched series to enable targets.    │</a:t>
            </a:r>
            <a:br/>
            <a:r>
              <a:t>│                                                 │</a:t>
            </a:r>
            <a:br/>
            <a:r>
              <a:t>└─────────────────────────────────────────────────┘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Example: Complete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323232"/>
                </a:solidFill>
              </a:defRPr>
            </a:pPr>
            <a:r>
              <a:t>Goal: View Y6CP 192GB 7500MT</a:t>
            </a:r>
          </a:p>
          <a:p>
            <a:pPr>
              <a:spcAft>
                <a:spcPts val="1200"/>
              </a:spcAft>
              <a:defRPr sz="1800">
                <a:solidFill>
                  <a:srgbClr val="323232"/>
                </a:solidFill>
              </a:defRPr>
            </a:pPr>
            <a:r>
              <a:t>      with D1 projection lines</a:t>
            </a:r>
          </a:p>
          <a:p>
            <a:pPr>
              <a:spcAft>
                <a:spcPts val="1200"/>
              </a:spcAft>
              <a:defRPr sz="1800">
                <a:solidFill>
                  <a:srgbClr val="323232"/>
                </a:solidFill>
              </a:defRPr>
            </a:pPr>
          </a:p>
          <a:p>
            <a:pPr>
              <a:spcAft>
                <a:spcPts val="1200"/>
              </a:spcAft>
              <a:defRPr sz="1800">
                <a:solidFill>
                  <a:srgbClr val="323232"/>
                </a:solidFill>
              </a:defRPr>
            </a:pPr>
            <a:r>
              <a:t>Steps:</a:t>
            </a:r>
          </a:p>
          <a:p>
            <a:pPr>
              <a:spcAft>
                <a:spcPts val="1200"/>
              </a:spcAft>
              <a:defRPr sz="1800">
                <a:solidFill>
                  <a:srgbClr val="323232"/>
                </a:solidFill>
              </a:defRPr>
            </a:pPr>
            <a:r>
              <a:t>1. Set sidebar filters</a:t>
            </a:r>
          </a:p>
          <a:p>
            <a:pPr>
              <a:spcAft>
                <a:spcPts val="1200"/>
              </a:spcAft>
              <a:defRPr sz="1800">
                <a:solidFill>
                  <a:srgbClr val="323232"/>
                </a:solidFill>
              </a:defRPr>
            </a:pPr>
            <a:r>
              <a:t>   (Form, Step, DID, Facility, WW)</a:t>
            </a:r>
          </a:p>
          <a:p>
            <a:pPr>
              <a:spcAft>
                <a:spcPts val="1200"/>
              </a:spcAft>
              <a:defRPr sz="1800">
                <a:solidFill>
                  <a:srgbClr val="323232"/>
                </a:solidFill>
              </a:defRPr>
            </a:pPr>
          </a:p>
          <a:p>
            <a:pPr>
              <a:spcAft>
                <a:spcPts val="1200"/>
              </a:spcAft>
              <a:defRPr sz="1800">
                <a:solidFill>
                  <a:srgbClr val="323232"/>
                </a:solidFill>
              </a:defRPr>
            </a:pPr>
            <a:r>
              <a:t>2. Select ONLY matching series</a:t>
            </a:r>
          </a:p>
          <a:p>
            <a:pPr>
              <a:spcAft>
                <a:spcPts val="1200"/>
              </a:spcAft>
              <a:defRPr sz="1800">
                <a:solidFill>
                  <a:srgbClr val="323232"/>
                </a:solidFill>
              </a:defRPr>
            </a:pPr>
            <a:r>
              <a:t>   (same DID+Density+Speed)</a:t>
            </a:r>
          </a:p>
          <a:p>
            <a:pPr>
              <a:spcAft>
                <a:spcPts val="1200"/>
              </a:spcAft>
              <a:defRPr sz="1800">
                <a:solidFill>
                  <a:srgbClr val="323232"/>
                </a:solidFill>
              </a:defRPr>
            </a:pPr>
          </a:p>
          <a:p>
            <a:pPr>
              <a:spcAft>
                <a:spcPts val="1200"/>
              </a:spcAft>
              <a:defRPr sz="1800">
                <a:solidFill>
                  <a:srgbClr val="323232"/>
                </a:solidFill>
              </a:defRPr>
            </a:pPr>
            <a:r>
              <a:t>3. Enable 'Show D1 Target Lines'</a:t>
            </a:r>
          </a:p>
          <a:p>
            <a:pPr>
              <a:spcAft>
                <a:spcPts val="1200"/>
              </a:spcAft>
              <a:defRPr sz="1800">
                <a:solidFill>
                  <a:srgbClr val="323232"/>
                </a:solidFill>
              </a:defRPr>
            </a:pPr>
          </a:p>
          <a:p>
            <a:pPr>
              <a:spcAft>
                <a:spcPts val="1200"/>
              </a:spcAft>
              <a:defRPr sz="1800">
                <a:solidFill>
                  <a:srgbClr val="323232"/>
                </a:solidFill>
              </a:defRPr>
            </a:pPr>
            <a:r>
              <a:t>4. Review chart comparison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0" y="1371600"/>
            <a:ext cx="5760720" cy="5029200"/>
          </a:xfrm>
          <a:prstGeom prst="roundRect">
            <a:avLst/>
          </a:prstGeom>
          <a:solidFill>
            <a:srgbClr val="F0F0F0"/>
          </a:solidFill>
          <a:ln>
            <a:solidFill>
              <a:srgbClr val="9696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0" y="1554480"/>
            <a:ext cx="5394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323232"/>
                </a:solidFill>
                <a:latin typeface="Courier New"/>
              </a:defRPr>
            </a:pPr>
            <a:r>
              <a:t>GOAL: View Y6CP 192GB 7500MTPS with targets</a:t>
            </a:r>
            <a:br/>
            <a:br/>
            <a:r>
              <a:t>┌─ SIDEBAR ──────────────────────────────────────┐</a:t>
            </a:r>
            <a:br/>
            <a:r>
              <a:t>│ Form Factor: [✓] SOCAMM2                       │</a:t>
            </a:r>
            <a:br/>
            <a:r>
              <a:t>│ Test Step:   [✓] HMFN [✓] HMB1 [✓] QMON        │</a:t>
            </a:r>
            <a:br/>
            <a:r>
              <a:t>│ Design ID:   [✓] Y6CP                          │</a:t>
            </a:r>
            <a:br/>
            <a:r>
              <a:t>│ Facility:    [✓] PENANG                        │</a:t>
            </a:r>
            <a:br/>
            <a:r>
              <a:t>│ Work Week:   2026 WW06-WW15                    │</a:t>
            </a:r>
            <a:br/>
            <a:r>
              <a:t>└────────────────────────────────────────────────┘</a:t>
            </a:r>
            <a:br/>
            <a:r>
              <a:t>           ↓</a:t>
            </a:r>
            <a:br/>
            <a:r>
              <a:t>┌─ SERIES SELECTOR ──────────────────────────────┐</a:t>
            </a:r>
            <a:br/>
            <a:r>
              <a:t>│ [✓] Y6CP_SOCAMM2_192GB_7500MTPS_HMFN          │</a:t>
            </a:r>
            <a:br/>
            <a:r>
              <a:t>│ [✓] Y6CP_SOCAMM2_192GB_7500MTPS_SLT           │</a:t>
            </a:r>
            <a:br/>
            <a:r>
              <a:t>│ [✓] Y6CP_SOCAMM2_192GB_7500MTPS_ELC           │</a:t>
            </a:r>
            <a:br/>
            <a:r>
              <a:t>│ [ ] Y6CP_SOCAMM2_96GB_9600MTPS_HMFN           │</a:t>
            </a:r>
            <a:br/>
            <a:r>
              <a:t>│ [ ] ... (other configs unchecked)              │</a:t>
            </a:r>
            <a:br/>
            <a:r>
              <a:t>└────────────────────────────────────────────────┘</a:t>
            </a:r>
            <a:br/>
            <a:r>
              <a:t>           ↓</a:t>
            </a:r>
            <a:br/>
            <a:r>
              <a:t>┌─ ENABLE TARGETS ───────────────────────────────┐</a:t>
            </a:r>
            <a:br/>
            <a:r>
              <a:t>│ [✓] Show D1 Target Lines  ← Check this!        │</a:t>
            </a:r>
            <a:br/>
            <a:r>
              <a:t>└────────────────────────────────────────────────┘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Available Target Configurations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323232"/>
                </a:solidFill>
              </a:defRPr>
            </a:pPr>
            <a:r>
              <a:t>D1 targets are defined for</a:t>
            </a:r>
          </a:p>
          <a:p>
            <a:pPr>
              <a:spcAft>
                <a:spcPts val="1200"/>
              </a:spcAft>
              <a:defRPr sz="1800">
                <a:solidFill>
                  <a:srgbClr val="323232"/>
                </a:solidFill>
              </a:defRPr>
            </a:pPr>
            <a:r>
              <a:t>these DID + Density + Speed</a:t>
            </a:r>
          </a:p>
          <a:p>
            <a:pPr>
              <a:spcAft>
                <a:spcPts val="1200"/>
              </a:spcAft>
              <a:defRPr sz="1800">
                <a:solidFill>
                  <a:srgbClr val="323232"/>
                </a:solidFill>
              </a:defRPr>
            </a:pPr>
            <a:r>
              <a:t>combinations:</a:t>
            </a:r>
          </a:p>
          <a:p>
            <a:pPr>
              <a:spcAft>
                <a:spcPts val="1200"/>
              </a:spcAft>
              <a:defRPr sz="1800">
                <a:solidFill>
                  <a:srgbClr val="323232"/>
                </a:solidFill>
              </a:defRPr>
            </a:pPr>
          </a:p>
          <a:p>
            <a:pPr>
              <a:spcAft>
                <a:spcPts val="1200"/>
              </a:spcAft>
              <a:defRPr sz="1800">
                <a:solidFill>
                  <a:srgbClr val="323232"/>
                </a:solidFill>
              </a:defRPr>
            </a:pPr>
            <a:r>
              <a:t>If your config is not listed,</a:t>
            </a:r>
          </a:p>
          <a:p>
            <a:pPr>
              <a:spcAft>
                <a:spcPts val="1200"/>
              </a:spcAft>
              <a:defRPr sz="1800">
                <a:solidFill>
                  <a:srgbClr val="323232"/>
                </a:solidFill>
              </a:defRPr>
            </a:pPr>
            <a:r>
              <a:t>targets will not appear.</a:t>
            </a:r>
          </a:p>
          <a:p>
            <a:pPr>
              <a:spcAft>
                <a:spcPts val="1200"/>
              </a:spcAft>
              <a:defRPr sz="1800">
                <a:solidFill>
                  <a:srgbClr val="323232"/>
                </a:solidFill>
              </a:defRPr>
            </a:pPr>
          </a:p>
          <a:p>
            <a:pPr>
              <a:spcAft>
                <a:spcPts val="1200"/>
              </a:spcAft>
              <a:defRPr sz="1800">
                <a:solidFill>
                  <a:srgbClr val="323232"/>
                </a:solidFill>
              </a:defRPr>
            </a:pPr>
            <a:r>
              <a:t>Timeline: Oct'25 - Feb'29</a:t>
            </a:r>
          </a:p>
          <a:p>
            <a:pPr>
              <a:spcAft>
                <a:spcPts val="1200"/>
              </a:spcAft>
              <a:defRPr sz="1800">
                <a:solidFill>
                  <a:srgbClr val="323232"/>
                </a:solidFill>
              </a:defRPr>
            </a:pPr>
          </a:p>
          <a:p>
            <a:pPr>
              <a:spcAft>
                <a:spcPts val="1200"/>
              </a:spcAft>
              <a:defRPr sz="1800">
                <a:solidFill>
                  <a:srgbClr val="323232"/>
                </a:solidFill>
              </a:defRPr>
            </a:pPr>
            <a:r>
              <a:t>New configs added:</a:t>
            </a:r>
          </a:p>
          <a:p>
            <a:pPr>
              <a:spcAft>
                <a:spcPts val="1200"/>
              </a:spcAft>
              <a:defRPr sz="1800">
                <a:solidFill>
                  <a:srgbClr val="323232"/>
                </a:solidFill>
              </a:defRPr>
            </a:pPr>
            <a:r>
              <a:t>• Y73P (starts Apr'27)</a:t>
            </a:r>
          </a:p>
          <a:p>
            <a:pPr>
              <a:spcAft>
                <a:spcPts val="1200"/>
              </a:spcAft>
              <a:defRPr sz="1800">
                <a:solidFill>
                  <a:srgbClr val="323232"/>
                </a:solidFill>
              </a:defRPr>
            </a:pPr>
            <a:r>
              <a:t>• Y63N_256GB_8533MTPS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0" y="1371600"/>
            <a:ext cx="5760720" cy="5029200"/>
          </a:xfrm>
          <a:prstGeom prst="roundRect">
            <a:avLst/>
          </a:prstGeom>
          <a:solidFill>
            <a:srgbClr val="F0F0F0"/>
          </a:solidFill>
          <a:ln>
            <a:solidFill>
              <a:srgbClr val="9696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0" y="1554480"/>
            <a:ext cx="5394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323232"/>
                </a:solidFill>
                <a:latin typeface="Courier New"/>
              </a:defRPr>
            </a:pPr>
            <a:r>
              <a:t>┌─────────────────────────────────────────────────┐</a:t>
            </a:r>
            <a:br/>
            <a:r>
              <a:t>│  AVAILABLE D1 TARGET CONFIGURATIONS             │</a:t>
            </a:r>
            <a:br/>
            <a:r>
              <a:t>├─────────────────────────────────────────────────┤</a:t>
            </a:r>
            <a:br/>
            <a:r>
              <a:t>│                                                 │</a:t>
            </a:r>
            <a:br/>
            <a:r>
              <a:t>│  Y42M:  32GB_8533, 64GB_8533, 128GB_6400       │</a:t>
            </a:r>
            <a:br/>
            <a:r>
              <a:t>│                                                 │</a:t>
            </a:r>
            <a:br/>
            <a:r>
              <a:t>│  Y62P:  32GB_9600, 64GB_9600, 64GB_8533        │</a:t>
            </a:r>
            <a:br/>
            <a:r>
              <a:t>│         128GB_6400, 128GB_7500, 128GB_8533      │</a:t>
            </a:r>
            <a:br/>
            <a:r>
              <a:t>│                                                 │</a:t>
            </a:r>
            <a:br/>
            <a:r>
              <a:t>│  Y6CP:  48GB_9600, 96GB_9600, 192GB_7500       │</a:t>
            </a:r>
            <a:br/>
            <a:r>
              <a:t>│                                                 │</a:t>
            </a:r>
            <a:br/>
            <a:r>
              <a:t>│  Y63N:  64GB_9600, 128GB_9600                   │</a:t>
            </a:r>
            <a:br/>
            <a:r>
              <a:t>│         256GB_7500, 256GB_8533                  │</a:t>
            </a:r>
            <a:br/>
            <a:r>
              <a:t>│                                                 │</a:t>
            </a:r>
            <a:br/>
            <a:r>
              <a:t>│  Y73P:  64GB_8533, 128GB_8533, 256GB_4800      │</a:t>
            </a:r>
            <a:br/>
            <a:r>
              <a:t>│         (Starts Apr'27)                         │</a:t>
            </a:r>
            <a:br/>
            <a:r>
              <a:t>│                                                 │</a:t>
            </a:r>
            <a:br/>
            <a:r>
              <a:t>└─────────────────────────────────────────────────┘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Pro Tips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323232"/>
                </a:solidFill>
              </a:defRPr>
            </a:pPr>
            <a:r>
              <a:t>💡 Quick Reference:</a:t>
            </a:r>
          </a:p>
          <a:p>
            <a:pPr>
              <a:spcAft>
                <a:spcPts val="1200"/>
              </a:spcAft>
              <a:defRPr sz="1800">
                <a:solidFill>
                  <a:srgbClr val="323232"/>
                </a:solidFill>
              </a:defRPr>
            </a:pPr>
          </a:p>
          <a:p>
            <a:pPr>
              <a:spcAft>
                <a:spcPts val="1200"/>
              </a:spcAft>
              <a:defRPr sz="1800">
                <a:solidFill>
                  <a:srgbClr val="323232"/>
                </a:solidFill>
              </a:defRPr>
            </a:pPr>
            <a:r>
              <a:t>1. Always start with narrow filters</a:t>
            </a:r>
          </a:p>
          <a:p>
            <a:pPr>
              <a:spcAft>
                <a:spcPts val="1200"/>
              </a:spcAft>
              <a:defRPr sz="1800">
                <a:solidFill>
                  <a:srgbClr val="323232"/>
                </a:solidFill>
              </a:defRPr>
            </a:pPr>
            <a:r>
              <a:t>   (single DID, single form factor)</a:t>
            </a:r>
          </a:p>
          <a:p>
            <a:pPr>
              <a:spcAft>
                <a:spcPts val="1200"/>
              </a:spcAft>
              <a:defRPr sz="1800">
                <a:solidFill>
                  <a:srgbClr val="323232"/>
                </a:solidFill>
              </a:defRPr>
            </a:pPr>
          </a:p>
          <a:p>
            <a:pPr>
              <a:spcAft>
                <a:spcPts val="1200"/>
              </a:spcAft>
              <a:defRPr sz="1800">
                <a:solidFill>
                  <a:srgbClr val="323232"/>
                </a:solidFill>
              </a:defRPr>
            </a:pPr>
            <a:r>
              <a:t>2. Select all 3 steps (HMFN, SLT, ELC)</a:t>
            </a:r>
          </a:p>
          <a:p>
            <a:pPr>
              <a:spcAft>
                <a:spcPts val="1200"/>
              </a:spcAft>
              <a:defRPr sz="1800">
                <a:solidFill>
                  <a:srgbClr val="323232"/>
                </a:solidFill>
              </a:defRPr>
            </a:pPr>
            <a:r>
              <a:t>   to see the complete yield flow</a:t>
            </a:r>
          </a:p>
          <a:p>
            <a:pPr>
              <a:spcAft>
                <a:spcPts val="1200"/>
              </a:spcAft>
              <a:defRPr sz="1800">
                <a:solidFill>
                  <a:srgbClr val="323232"/>
                </a:solidFill>
              </a:defRPr>
            </a:pPr>
          </a:p>
          <a:p>
            <a:pPr>
              <a:spcAft>
                <a:spcPts val="1200"/>
              </a:spcAft>
              <a:defRPr sz="1800">
                <a:solidFill>
                  <a:srgbClr val="323232"/>
                </a:solidFill>
              </a:defRPr>
            </a:pPr>
            <a:r>
              <a:t>3. Use 'Select All' then uncheck</a:t>
            </a:r>
          </a:p>
          <a:p>
            <a:pPr>
              <a:spcAft>
                <a:spcPts val="1200"/>
              </a:spcAft>
              <a:defRPr sz="1800">
                <a:solidFill>
                  <a:srgbClr val="323232"/>
                </a:solidFill>
              </a:defRPr>
            </a:pPr>
            <a:r>
              <a:t>   unwanted configs</a:t>
            </a:r>
          </a:p>
          <a:p>
            <a:pPr>
              <a:spcAft>
                <a:spcPts val="1200"/>
              </a:spcAft>
              <a:defRPr sz="1800">
                <a:solidFill>
                  <a:srgbClr val="323232"/>
                </a:solidFill>
              </a:defRPr>
            </a:pPr>
          </a:p>
          <a:p>
            <a:pPr>
              <a:spcAft>
                <a:spcPts val="1200"/>
              </a:spcAft>
              <a:defRPr sz="1800">
                <a:solidFill>
                  <a:srgbClr val="323232"/>
                </a:solidFill>
              </a:defRPr>
            </a:pPr>
            <a:r>
              <a:t>4. Hover over chart points for</a:t>
            </a:r>
          </a:p>
          <a:p>
            <a:pPr>
              <a:spcAft>
                <a:spcPts val="1200"/>
              </a:spcAft>
              <a:defRPr sz="1800">
                <a:solidFill>
                  <a:srgbClr val="323232"/>
                </a:solidFill>
              </a:defRPr>
            </a:pPr>
            <a:r>
              <a:t>   exact yield values</a:t>
            </a:r>
          </a:p>
          <a:p>
            <a:pPr>
              <a:spcAft>
                <a:spcPts val="1200"/>
              </a:spcAft>
              <a:defRPr sz="1800">
                <a:solidFill>
                  <a:srgbClr val="323232"/>
                </a:solidFill>
              </a:defRPr>
            </a:pPr>
          </a:p>
          <a:p>
            <a:pPr>
              <a:spcAft>
                <a:spcPts val="1200"/>
              </a:spcAft>
              <a:defRPr sz="1800">
                <a:solidFill>
                  <a:srgbClr val="323232"/>
                </a:solidFill>
              </a:defRPr>
            </a:pPr>
            <a:r>
              <a:t>5. Use 4-week rolling average</a:t>
            </a:r>
          </a:p>
          <a:p>
            <a:pPr>
              <a:spcAft>
                <a:spcPts val="1200"/>
              </a:spcAft>
              <a:defRPr sz="1800">
                <a:solidFill>
                  <a:srgbClr val="323232"/>
                </a:solidFill>
              </a:defRPr>
            </a:pPr>
            <a:r>
              <a:t>   to smooth out weekly noise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Quick Reference Card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323232"/>
                </a:solidFill>
              </a:defRPr>
            </a:pPr>
            <a:r>
              <a:t>Bookmark this slide!</a:t>
            </a:r>
          </a:p>
          <a:p>
            <a:pPr>
              <a:spcAft>
                <a:spcPts val="1200"/>
              </a:spcAft>
              <a:defRPr sz="1800">
                <a:solidFill>
                  <a:srgbClr val="323232"/>
                </a:solidFill>
              </a:defRPr>
            </a:pPr>
          </a:p>
          <a:p>
            <a:pPr>
              <a:spcAft>
                <a:spcPts val="1200"/>
              </a:spcAft>
              <a:defRPr sz="1800">
                <a:solidFill>
                  <a:srgbClr val="323232"/>
                </a:solidFill>
              </a:defRPr>
            </a:pPr>
            <a:r>
              <a:t>Dashboard URL:</a:t>
            </a:r>
          </a:p>
          <a:p>
            <a:pPr>
              <a:spcAft>
                <a:spcPts val="1200"/>
              </a:spcAft>
              <a:defRPr sz="1800">
                <a:solidFill>
                  <a:srgbClr val="323232"/>
                </a:solidFill>
              </a:defRPr>
            </a:pPr>
            <a:r>
              <a:t>http://bolpedh03.micron.com:8502</a:t>
            </a:r>
          </a:p>
          <a:p>
            <a:pPr>
              <a:spcAft>
                <a:spcPts val="1200"/>
              </a:spcAft>
              <a:defRPr sz="1800">
                <a:solidFill>
                  <a:srgbClr val="323232"/>
                </a:solidFill>
              </a:defRPr>
            </a:pPr>
          </a:p>
          <a:p>
            <a:pPr>
              <a:spcAft>
                <a:spcPts val="1200"/>
              </a:spcAft>
              <a:defRPr sz="1800">
                <a:solidFill>
                  <a:srgbClr val="323232"/>
                </a:solidFill>
              </a:defRPr>
            </a:pPr>
            <a:r>
              <a:t>Key Contact:</a:t>
            </a:r>
          </a:p>
          <a:p>
            <a:pPr>
              <a:spcAft>
                <a:spcPts val="1200"/>
              </a:spcAft>
              <a:defRPr sz="1800">
                <a:solidFill>
                  <a:srgbClr val="323232"/>
                </a:solidFill>
              </a:defRPr>
            </a:pPr>
            <a:r>
              <a:t>Asegaran (Dashboard Owner)</a:t>
            </a:r>
          </a:p>
          <a:p>
            <a:pPr>
              <a:spcAft>
                <a:spcPts val="1200"/>
              </a:spcAft>
              <a:defRPr sz="1800">
                <a:solidFill>
                  <a:srgbClr val="323232"/>
                </a:solidFill>
              </a:defRPr>
            </a:pPr>
          </a:p>
          <a:p>
            <a:pPr>
              <a:spcAft>
                <a:spcPts val="1200"/>
              </a:spcAft>
              <a:defRPr sz="1800">
                <a:solidFill>
                  <a:srgbClr val="323232"/>
                </a:solidFill>
              </a:defRPr>
            </a:pPr>
            <a:r>
              <a:t>Data Source:</a:t>
            </a:r>
          </a:p>
          <a:p>
            <a:pPr>
              <a:spcAft>
                <a:spcPts val="1200"/>
              </a:spcAft>
              <a:defRPr sz="1800">
                <a:solidFill>
                  <a:srgbClr val="323232"/>
                </a:solidFill>
              </a:defRPr>
            </a:pPr>
            <a:r>
              <a:t>frpt/mtsums commands</a:t>
            </a:r>
          </a:p>
          <a:p>
            <a:pPr>
              <a:spcAft>
                <a:spcPts val="1200"/>
              </a:spcAft>
              <a:defRPr sz="1800">
                <a:solidFill>
                  <a:srgbClr val="323232"/>
                </a:solidFill>
              </a:defRPr>
            </a:pPr>
          </a:p>
          <a:p>
            <a:pPr>
              <a:spcAft>
                <a:spcPts val="1200"/>
              </a:spcAft>
              <a:defRPr sz="1800">
                <a:solidFill>
                  <a:srgbClr val="323232"/>
                </a:solidFill>
              </a:defRPr>
            </a:pPr>
            <a:r>
              <a:t>Last Updated: Apr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0" y="1371600"/>
            <a:ext cx="5760720" cy="5029200"/>
          </a:xfrm>
          <a:prstGeom prst="roundRect">
            <a:avLst/>
          </a:prstGeom>
          <a:solidFill>
            <a:srgbClr val="F0F0F0"/>
          </a:solidFill>
          <a:ln>
            <a:solidFill>
              <a:srgbClr val="9696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0" y="1554480"/>
            <a:ext cx="5394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323232"/>
                </a:solidFill>
                <a:latin typeface="Courier New"/>
              </a:defRPr>
            </a:pPr>
            <a:r>
              <a:t>┌─────────────────────────────────────────────────┐</a:t>
            </a:r>
            <a:br/>
            <a:r>
              <a:t>│            QUICK REFERENCE CARD                 │</a:t>
            </a:r>
            <a:br/>
            <a:r>
              <a:t>├─────────────────────────────────────────────────┤</a:t>
            </a:r>
            <a:br/>
            <a:r>
              <a:t>│                                                 │</a:t>
            </a:r>
            <a:br/>
            <a:r>
              <a:t>│  TARGET LINE COLORS:                            │</a:t>
            </a:r>
            <a:br/>
            <a:r>
              <a:t>│  ┄┄┄ Blue   = HMFN Target                      │</a:t>
            </a:r>
            <a:br/>
            <a:r>
              <a:t>│  ┄┄┄ Red    = SLT Target                       │</a:t>
            </a:r>
            <a:br/>
            <a:r>
              <a:t>│  ┄┄┄ Green  = ELC Target                       │</a:t>
            </a:r>
            <a:br/>
            <a:r>
              <a:t>│                                                 │</a:t>
            </a:r>
            <a:br/>
            <a:r>
              <a:t>│  YIELD CALCULATION:                             │</a:t>
            </a:r>
            <a:br/>
            <a:r>
              <a:t>│  ELC = HMFN × SLT                              │</a:t>
            </a:r>
            <a:br/>
            <a:r>
              <a:t>│  SLT = HMB1 × QMON                             │</a:t>
            </a:r>
            <a:br/>
            <a:r>
              <a:t>│                                                 │</a:t>
            </a:r>
            <a:br/>
            <a:r>
              <a:t>│  KEY TARGETS (Typical):                         │</a:t>
            </a:r>
            <a:br/>
            <a:r>
              <a:t>│  HMFN: 99% → 99.5%                             │</a:t>
            </a:r>
            <a:br/>
            <a:r>
              <a:t>│  SLT:  97% → 99%                               │</a:t>
            </a:r>
            <a:br/>
            <a:r>
              <a:t>│  ELC:  95.54% → 98.51%                         │</a:t>
            </a:r>
            <a:br/>
            <a:r>
              <a:t>│                                                 │</a:t>
            </a:r>
            <a:br/>
            <a:r>
              <a:t>│  TROUBLESHOOTING:                               │</a:t>
            </a:r>
            <a:br/>
            <a:r>
              <a:t>│  No targets? → Select single config            │</a:t>
            </a:r>
            <a:br/>
            <a:r>
              <a:t>│  Warning? → Configs don't match                │</a:t>
            </a:r>
            <a:br/>
            <a:r>
              <a:t>└─────────────────────────────────────────────────┘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