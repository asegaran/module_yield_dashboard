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5293"/>
                </a:solidFill>
              </a:defRPr>
            </a:pPr>
            <a:r>
              <a:t>Y6CP SLT cDPM Recovery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23232"/>
                </a:solidFill>
              </a:defRPr>
            </a:pPr>
            <a:r>
              <a:t>HMB1 &amp; QMON | WW202613-15 | Penang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April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DPM Calculation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DPM Formula (Kevin Roos Method):</a:t>
            </a:r>
            <a:br/>
            <a:r>
              <a:t>    DPM = (Unique Failing MSNs / Total FIDs) × 1,000,000</a:t>
            </a:r>
            <a:br/>
            <a:br/>
            <a:r>
              <a:t>Yield Calculation (Module-Based):</a:t>
            </a:r>
            <a:br/>
            <a:r>
              <a:t>    Actual Yield = (Passing Modules / Total Modules) × 100</a:t>
            </a:r>
            <a:br/>
            <a:r>
              <a:t>    Yield Recovery = (Recovered MSNs / Total MUIN) × 100</a:t>
            </a:r>
            <a:br/>
            <a:br/>
            <a:r>
              <a:t>Recovery Priority:</a:t>
            </a:r>
            <a:br/>
            <a:r>
              <a:t>    HW+SOP → No Recovery (SB/DB) → BIOS 100% → BIOS 50% → RPx → No Recovery (Row)</a:t>
            </a:r>
            <a:br/>
            <a:br/>
            <a:r>
              <a:t>Key Rules:</a:t>
            </a:r>
            <a:br/>
            <a:r>
              <a:t>• SB/DB FAILCRAWLERs = actual bit errors → No recovery possible</a:t>
            </a:r>
            <a:br/>
            <a:r>
              <a:t>• ROW MSN_STATUS never gets BIOS (even with BURST patterns) → Only RPx can recover</a:t>
            </a:r>
            <a:br/>
            <a:r>
              <a:t>• BIOS 100%: MULTI_BANK_MULTI_DQ FAILCRAWLER</a:t>
            </a:r>
            <a:br/>
            <a:r>
              <a:t>• BIOS 50%: BANK/BURST/PERIPH patterns in FAILCRAWLER 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Key Findings (WW202613-15):</a:t>
            </a:r>
            <a:br/>
            <a:br/>
            <a:r>
              <a:t>• Volume Tested:</a:t>
            </a:r>
            <a:br/>
            <a:r>
              <a:t>  - HMB1: 11,907 modules (217 failed)</a:t>
            </a:r>
            <a:br/>
            <a:r>
              <a:t>  - QMON: 7,888 modules (100 failed)</a:t>
            </a:r>
            <a:br/>
            <a:br/>
            <a:r>
              <a:t>• Actual SLT Yield:</a:t>
            </a:r>
            <a:br/>
            <a:r>
              <a:t>  - HMB1: 98.18% | QMON: 98.73%</a:t>
            </a:r>
            <a:br/>
            <a:r>
              <a:t>  - Combined SLT: 96.93%</a:t>
            </a:r>
            <a:br/>
            <a:br/>
            <a:r>
              <a:t>• cDPM Overview:</a:t>
            </a:r>
            <a:br/>
            <a:r>
              <a:t>  - HMB1: 364 DPM total → 12 DPM customer-facing</a:t>
            </a:r>
            <a:br/>
            <a:r>
              <a:t>  - QMON: 286 DPM total → 20 DPM customer-facing</a:t>
            </a:r>
            <a:br/>
            <a:br/>
            <a:r>
              <a:t>• Recovery Impact:</a:t>
            </a:r>
            <a:br/>
            <a:r>
              <a:t>  - HMB1: +1.73% yield gain | QMON: +1.05% yield gain</a:t>
            </a:r>
            <a:br/>
            <a:r>
              <a:t>  - Combined SLT Projected: 99.70% (+2.76%)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DPM Waterfall: Total DPM → Customer-Facing DPM (WW202613-15)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293"/>
                </a:solidFill>
              </a:defRPr>
            </a:pPr>
            <a:r>
              <a:t>HMB1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3262"/>
            <a:ext cx="849085" cy="2544417"/>
          </a:xfrm>
          <a:prstGeom prst="rect">
            <a:avLst/>
          </a:prstGeom>
          <a:solidFill>
            <a:srgbClr val="005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2094"/>
            <a:ext cx="103196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15968"/>
            <a:ext cx="11234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Total</a:t>
            </a:r>
            <a:br/>
            <a:r>
              <a:t>DPM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9205" y="1753262"/>
            <a:ext cx="849085" cy="1484266"/>
          </a:xfrm>
          <a:prstGeom prst="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7765" y="1552094"/>
            <a:ext cx="103196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-212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2045" y="4315968"/>
            <a:ext cx="11234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-BIOS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5451" y="3237529"/>
            <a:ext cx="849085" cy="848162"/>
          </a:xfrm>
          <a:prstGeom prst="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4011" y="3036361"/>
            <a:ext cx="103196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-121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8291" y="4315968"/>
            <a:ext cx="11234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-HW+SOP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1697" y="4212884"/>
            <a:ext cx="849085" cy="84795"/>
          </a:xfrm>
          <a:prstGeom prst="rect">
            <a:avLst/>
          </a:prstGeom>
          <a:solidFill>
            <a:srgbClr val="005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0257" y="4011716"/>
            <a:ext cx="103196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4537" y="4315968"/>
            <a:ext cx="112340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Customer</a:t>
            </a:r>
            <a:br/>
            <a:r>
              <a:t>Facing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293"/>
                </a:solidFill>
              </a:defRPr>
            </a:pPr>
            <a:r>
              <a:t>QMON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753262"/>
            <a:ext cx="1132114" cy="2544417"/>
          </a:xfrm>
          <a:prstGeom prst="rect">
            <a:avLst/>
          </a:prstGeom>
          <a:solidFill>
            <a:srgbClr val="005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52094"/>
            <a:ext cx="131499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286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315968"/>
            <a:ext cx="14064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Total</a:t>
            </a:r>
            <a:br/>
            <a:r>
              <a:t>DPM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5834" y="1753262"/>
            <a:ext cx="1132114" cy="1676941"/>
          </a:xfrm>
          <a:prstGeom prst="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44394" y="1552094"/>
            <a:ext cx="131499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-189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8674" y="4315968"/>
            <a:ext cx="14064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-BIOS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5108" y="4124184"/>
            <a:ext cx="1132114" cy="173495"/>
          </a:xfrm>
          <a:prstGeom prst="rect">
            <a:avLst/>
          </a:prstGeom>
          <a:solidFill>
            <a:srgbClr val="005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3668" y="3923016"/>
            <a:ext cx="131499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7948" y="4315968"/>
            <a:ext cx="140643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Customer</a:t>
            </a:r>
            <a:br/>
            <a:r>
              <a:t>Facing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Waterfall bridges MFG view (Total DPM) to Customer view (Customer-Facing DPM):</a:t>
            </a:r>
            <a:br/>
            <a:r>
              <a:t>• Green = DPM recovered | Blue = Totals</a:t>
            </a:r>
            <a:br/>
            <a:r>
              <a:t>• HMB1: 364 → 12 DPM (recovered: 334)</a:t>
            </a:r>
            <a:br/>
            <a:r>
              <a:t>• QMON: 286 → 20 DPM (recovered: 189)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SLT Yield Waterfall: Current → Projected (WW202613-15)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293"/>
                </a:solidFill>
              </a:defRPr>
            </a:pPr>
            <a:r>
              <a:t>Combined SLT Yield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1823777"/>
            <a:ext cx="1338942" cy="2473902"/>
          </a:xfrm>
          <a:prstGeom prst="rect">
            <a:avLst/>
          </a:prstGeom>
          <a:solidFill>
            <a:srgbClr val="005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622609"/>
            <a:ext cx="15218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4315968"/>
            <a:ext cx="161326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Current</a:t>
            </a:r>
            <a:br/>
            <a:r>
              <a:t>Yield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3542" y="1779590"/>
            <a:ext cx="1338942" cy="44186"/>
          </a:xfrm>
          <a:prstGeom prst="rect">
            <a:avLst/>
          </a:prstGeom>
          <a:solidFill>
            <a:srgbClr val="D32F2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2102" y="1578422"/>
            <a:ext cx="15218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6382" y="4315968"/>
            <a:ext cx="161326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+HMB1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29645" y="1752677"/>
            <a:ext cx="1338942" cy="26912"/>
          </a:xfrm>
          <a:prstGeom prst="rect">
            <a:avLst/>
          </a:prstGeom>
          <a:solidFill>
            <a:srgbClr val="D32F2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8205" y="1551509"/>
            <a:ext cx="15218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2485" y="4315968"/>
            <a:ext cx="161326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+QMON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05748" y="1753262"/>
            <a:ext cx="1338942" cy="2544417"/>
          </a:xfrm>
          <a:prstGeom prst="rect">
            <a:avLst/>
          </a:prstGeom>
          <a:solidFill>
            <a:srgbClr val="005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4308" y="1552094"/>
            <a:ext cx="152182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8588" y="4315968"/>
            <a:ext cx="161326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Projected</a:t>
            </a:r>
            <a:br/>
            <a:r>
              <a:t>Yield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Bridging Yield and DPM:</a:t>
            </a:r>
            <a:br/>
            <a:r>
              <a:t>• Current SLT Yield: 96.93% (HMB1 98.18% × QMON 98.73%)</a:t>
            </a:r>
            <a:br/>
            <a:r>
              <a:t>• Recovery: HMB1 +1.73% | QMON +1.05%</a:t>
            </a:r>
            <a:br/>
            <a:r>
              <a:t>• Projected SLT Yield: 99.70% | Improvement: +2.76%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Recovery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 DPM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BIOS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HW+SOP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 Recovery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Customer-Facing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HMB1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QMON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Recovery Breakdown:</a:t>
            </a:r>
            <a:br/>
            <a:br/>
            <a:r>
              <a:t>• BIOS (100%): MULTI_BANK_MULTI_DQ timing fix</a:t>
            </a:r>
            <a:br/>
            <a:r>
              <a:t>  - Combined: 401 DPM recoverable</a:t>
            </a:r>
            <a:br/>
            <a:br/>
            <a:r>
              <a:t>• HW+SOP (100%): Hang failures - hardware + SOP fix</a:t>
            </a:r>
            <a:br/>
            <a:r>
              <a:t>  - HMB1: 121 DPM</a:t>
            </a:r>
            <a:br/>
            <a:br/>
            <a:r>
              <a:t>• No Recovery (DRAM-related): SB/DB FAILCRAWLERs, ROW MSN_STATUS</a:t>
            </a:r>
            <a:br/>
            <a:r>
              <a:t>  - Combined: 96 DPM (actual silicon issues)</a:t>
            </a:r>
            <a:br/>
            <a:br/>
            <a:r>
              <a:t>• Customer-Facing cDPM: 32 DPM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SLT Yield Impact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Actual Yield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Yield Gain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Projected Yield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HMB1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11,907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98.18%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+1.73%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99.91%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QMON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7,888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98.73%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+1.05%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99.79%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Combined SLT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96.93%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+2.76%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99.70%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12772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Key Takeaways:</a:t>
            </a:r>
            <a:br/>
            <a:br/>
            <a:r>
              <a:t>• Current SLT Yield: 96.93% → Projected: 99.70%</a:t>
            </a:r>
            <a:br/>
            <a:br/>
            <a:r>
              <a:t>• BIOS timing fix is the largest recovery opportunity (401 DPM combined)</a:t>
            </a:r>
            <a:br/>
            <a:br/>
            <a:r>
              <a:t>• Customer-Facing cDPM after all recovery: 32 DPM</a:t>
            </a:r>
            <a:br/>
            <a:r>
              <a:t>  - HMB1: 12 DPM | QMON: 20 DPM</a:t>
            </a:r>
            <a:br/>
            <a:br/>
            <a:r>
              <a:t>• No Recovery failures (DRAM-related): 96 DPM</a:t>
            </a:r>
            <a:br/>
            <a:r>
              <a:t>  - These require further silicon investigation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